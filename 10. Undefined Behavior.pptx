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276" r:id="rId3"/>
    <p:sldId id="298" r:id="rId4"/>
    <p:sldId id="277" r:id="rId5"/>
    <p:sldId id="297" r:id="rId6"/>
    <p:sldId id="278" r:id="rId7"/>
    <p:sldId id="290" r:id="rId8"/>
    <p:sldId id="279" r:id="rId9"/>
    <p:sldId id="291" r:id="rId10"/>
    <p:sldId id="292" r:id="rId11"/>
    <p:sldId id="293" r:id="rId12"/>
    <p:sldId id="294" r:id="rId13"/>
    <p:sldId id="295" r:id="rId14"/>
    <p:sldId id="296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1459-909F-2EFC-07F9-79512D65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D4999-1611-F813-8700-F1808F5AD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F6AAA-4D39-E3CB-0001-E3011120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3B3EB-A99C-8B7E-84C7-891E2DFE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E6B95-F14A-F856-127B-B7C45540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6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8833-9BD2-E325-03B5-6916403C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1225-85FD-1FCF-D21D-CF0CB848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1DA8B-88CE-54E6-DE34-133548F8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A2A3A-564D-624D-608D-635E231D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F3A37-5305-46EA-1BB9-929EB344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1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C6D5-3947-E9F4-15D0-7085667D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4EE8F-7BB2-D374-2258-EFDD0602F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790E6-A6C2-21F8-609B-647F7EAE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EB0B8-FE55-C77A-819A-1E1F4D27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D897-279E-8B72-7E34-CF6B43EB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4A50-4FD6-97AD-8854-1673398A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5B11A-ACAE-11C6-C3D8-DAEC5B133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8D721-5B41-DF6F-D47F-313C97176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BF0F1-0D99-E93F-82C4-7589FC8E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87266-4331-FC12-AD9A-D3E0642F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F84F4-C192-1699-9597-EC414F8E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9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AB691-ADFC-068F-80E3-B644AE46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71FF-08BF-5607-6E7A-22734272E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0BA34-19A3-FA79-26DB-5D0A06CD3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3135D-6777-6AED-E8FE-64572CC3E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A01D1-E5BB-09D5-7345-F9C7A0CF2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626A8-DF18-CE78-0915-C758DC17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567F9-0A24-A349-87EE-603AD4C1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C534C-8847-74BC-92E1-20E43DBE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1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B98D-FE68-F350-5324-0182AE2D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EEB9C-A71E-B134-286A-33A57E86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0178C-4E08-9649-381F-033FEA94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A771B-161F-6E49-69E9-E5AB60B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FD694-4FCE-3374-E9BF-9E9D31E6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F9778-DE5E-DC4B-F08F-005C5853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AF18A-4123-0B5B-3335-2DF730E5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7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BC43-5F3C-CB6B-DD33-79858E0F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AFA3-751E-D665-4E5B-B891C412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7C30-F91B-1057-3A21-5F152D343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8D9C2-3634-A167-5718-11BD47E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866F-5E20-D329-0082-B3B6305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9109-4D3D-7954-A55D-6A0C308A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4478-41C0-303E-E601-58D3896F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3BBAF-2337-E8E9-1F41-A73FEEF7F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53D2B-46EF-D976-22E2-6E23BFD6A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BBA61-612D-44AC-C7BD-55B8BB5C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EF3F8-4D8F-4B54-A0E4-F8B43C20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438BE-35EC-C878-4885-B63BB0C1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D43E-217D-C62A-4A25-CA8F62D1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B9E9B-C0DA-54FE-AA50-66B11F178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2E9AE-4A38-C3CD-52D0-A959E9A5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BB21E-D5D0-2C28-AFE0-F2C680A0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0C9D2-8504-4882-FE73-F0157893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4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BB1C7-14A7-6E35-0DA4-797F22E04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8B31B-7056-AA0B-A870-A4F7FC89A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4FC08-0E6D-2025-AF3F-A65871BC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BCA7-303F-3BC6-5D5D-4C1B0874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FDF16-38F4-946E-92BC-9F96BA99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AE8FD-91CC-B9FE-95A9-9E78CBAA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930E1-8084-BD76-CAE1-81205F84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3BC9C-8A80-2485-721A-49D0366A3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CA66A-D139-B24B-BAC9-A11C93ED93FA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78CC-A76B-6479-CD94-0E811610A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49F0-A863-C653-7031-F6F5ED71C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866D4-F72C-474F-8B92-0269B09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1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E82E-420D-C14A-18D2-129DDD46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5C3B-EA04-C879-3C75-B8D96718D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E402-6B13-7AB8-3523-FE9D5F5F0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en-US" dirty="0"/>
              <a:t>Undefined Behavior</a:t>
            </a:r>
          </a:p>
        </p:txBody>
      </p:sp>
    </p:spTree>
    <p:extLst>
      <p:ext uri="{BB962C8B-B14F-4D97-AF65-F5344CB8AC3E}">
        <p14:creationId xmlns:p14="http://schemas.microsoft.com/office/powerpoint/2010/main" val="2354085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7105-13CF-F458-FDBA-7541D410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3A4E-CFED-94F6-39B9-1D854806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программа?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F807A-928E-9D93-62D8-297EC60AF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C187CB-27B7-D576-FA37-15FE6CF0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42164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0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1654-6440-C52F-971C-2692CD4F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D337-C035-A8AF-C7C6-4E81F473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программа?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2B3A-E32E-DAA8-3674-663BBC2B5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3F51C7-3653-1A12-CACA-75BCCB707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1494"/>
            <a:ext cx="4216400" cy="187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E4923-05D6-EB1E-843A-C9CD17152248}"/>
              </a:ext>
            </a:extLst>
          </p:cNvPr>
          <p:cNvSpPr txBox="1"/>
          <p:nvPr/>
        </p:nvSpPr>
        <p:spPr>
          <a:xfrm>
            <a:off x="6852746" y="3678128"/>
            <a:ext cx="3279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угодно, гарантий нет</a:t>
            </a:r>
          </a:p>
          <a:p>
            <a:r>
              <a:rPr lang="ru-RU" dirty="0"/>
              <a:t>может даже стереть </a:t>
            </a:r>
            <a:r>
              <a:rPr lang="en-US" dirty="0"/>
              <a:t>/ </a:t>
            </a:r>
            <a:r>
              <a:rPr lang="ru-RU" dirty="0"/>
              <a:t>(диск </a:t>
            </a:r>
            <a:r>
              <a:rPr lang="en-US" dirty="0"/>
              <a:t>C:\)</a:t>
            </a:r>
          </a:p>
        </p:txBody>
      </p:sp>
    </p:spTree>
    <p:extLst>
      <p:ext uri="{BB962C8B-B14F-4D97-AF65-F5344CB8AC3E}">
        <p14:creationId xmlns:p14="http://schemas.microsoft.com/office/powerpoint/2010/main" val="49857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68FDA-BDFE-8E34-ACB7-4316F8B8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A761-3E90-115C-17F9-791E82D74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B57C-AE37-FD5E-86C0-90FEA40AC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F8D1B-4E3B-4794-C5CE-62CA6058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0744"/>
            <a:ext cx="41402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58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4371-E60C-33C0-59FD-4A0C2C2E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D4BB-B2C9-9534-0AEF-D1069C7B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E27A-F973-52BC-DE61-896912BAC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B0C2D-539B-FF0E-3759-2A65B71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0744"/>
            <a:ext cx="4140200" cy="372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ACE93-299B-1B7D-6732-FC979536A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64"/>
          <a:stretch>
            <a:fillRect/>
          </a:stretch>
        </p:blipFill>
        <p:spPr>
          <a:xfrm>
            <a:off x="6474372" y="2604294"/>
            <a:ext cx="3933278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0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4033-F585-677A-14E8-08DBA977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43FF-C345-0341-79FE-A7964870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ABF36-0683-06D0-9E28-3B795302D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2925"/>
            <a:ext cx="6121400" cy="21209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64BF61B-8ECC-FD5B-8756-BB9E29A0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3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B2032-E3E2-97DB-BEA1-2748849F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3DE1-55AD-B73E-7421-9ACC714F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B8ACD-6E63-517C-B917-0848DC4F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6062"/>
            <a:ext cx="10515600" cy="2120900"/>
          </a:xfrm>
        </p:spPr>
        <p:txBody>
          <a:bodyPr>
            <a:normAutofit/>
          </a:bodyPr>
          <a:lstStyle/>
          <a:p>
            <a:r>
              <a:rPr lang="en-US" dirty="0"/>
              <a:t>dev == NULL</a:t>
            </a:r>
            <a:br>
              <a:rPr lang="en-US" dirty="0"/>
            </a:br>
            <a:r>
              <a:rPr lang="ru-RU" dirty="0"/>
              <a:t>выражение </a:t>
            </a:r>
            <a:r>
              <a:rPr lang="en-US" dirty="0"/>
              <a:t>dev-&gt;</a:t>
            </a:r>
            <a:r>
              <a:rPr lang="en-US" dirty="0" err="1"/>
              <a:t>priv</a:t>
            </a:r>
            <a:r>
              <a:rPr lang="en-US" dirty="0"/>
              <a:t> </a:t>
            </a:r>
            <a:r>
              <a:rPr lang="ru-RU" dirty="0"/>
              <a:t>имеет неопределенное поведение</a:t>
            </a:r>
          </a:p>
          <a:p>
            <a:r>
              <a:rPr lang="en-US" dirty="0"/>
              <a:t>dev != NULL</a:t>
            </a:r>
            <a:br>
              <a:rPr lang="ru-RU" dirty="0"/>
            </a:br>
            <a:r>
              <a:rPr lang="ru-RU" dirty="0"/>
              <a:t>проверка в 6 строчке не имеет смысла, ее можно отбросить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E836E3-F3EF-AC5A-73DA-6AFBEDEE1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2925"/>
            <a:ext cx="61214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5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9A23-3A09-F415-D341-F23B8206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F7E-8677-1DB6-C52D-9EEB1F48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FE1D0-F53A-77C2-C796-D2B80B94A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10744"/>
            <a:ext cx="4038600" cy="11811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B367F9-622E-0B66-F6FB-A751E5F3B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035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9C0F-4AE3-E9C4-B9E7-A3849CE3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BB51-CD32-EE78-204B-0CD8EE69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пойти не так?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E0996-1857-0823-EA93-D6A032480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6800" y="3563937"/>
                <a:ext cx="6277303" cy="27479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DE0996-1857-0823-EA93-D6A032480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6800" y="3563937"/>
                <a:ext cx="6277303" cy="2747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EB4DD9-881A-3933-0A63-831DAF36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10744"/>
            <a:ext cx="4038600" cy="1181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7B18CD-21BB-AC40-390B-B0BA186D5D8D}"/>
              </a:ext>
            </a:extLst>
          </p:cNvPr>
          <p:cNvSpPr txBox="1"/>
          <p:nvPr/>
        </p:nvSpPr>
        <p:spPr>
          <a:xfrm>
            <a:off x="6580789" y="4297554"/>
            <a:ext cx="286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Signed Subtraction Overflow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1C943D-4B2D-97D9-686F-1B7BE660B7E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876800" y="4482220"/>
            <a:ext cx="17039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47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1E78-46EF-9701-9DC7-6B4E482F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B7CD-9715-493B-41D6-AAFB004D5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От времени жизни объектов и управления памятью</a:t>
            </a:r>
            <a:endParaRPr lang="en-US" dirty="0"/>
          </a:p>
          <a:p>
            <a:r>
              <a:rPr lang="ru-RU" dirty="0"/>
              <a:t>Использование объекта вне его времени жизни</a:t>
            </a:r>
          </a:p>
          <a:p>
            <a:pPr lvl="1"/>
            <a:r>
              <a:rPr lang="en-US" dirty="0"/>
              <a:t>use-after-free, use-after-scope, </a:t>
            </a:r>
            <a:r>
              <a:rPr lang="ru-RU" dirty="0"/>
              <a:t>обращение к объекту после вызова деструктора</a:t>
            </a:r>
          </a:p>
          <a:p>
            <a:pPr lvl="1"/>
            <a:r>
              <a:rPr lang="ru-RU" dirty="0"/>
              <a:t>чтение/запись через указатель/ссылку на несуществующий объект</a:t>
            </a:r>
          </a:p>
          <a:p>
            <a:r>
              <a:rPr lang="ru-RU" dirty="0"/>
              <a:t>Несогласованное применение </a:t>
            </a:r>
            <a:r>
              <a:rPr lang="en-US" dirty="0"/>
              <a:t>new/delete</a:t>
            </a:r>
          </a:p>
          <a:p>
            <a:pPr lvl="1"/>
            <a:r>
              <a:rPr lang="en-US" dirty="0"/>
              <a:t>delete </a:t>
            </a:r>
            <a:r>
              <a:rPr lang="ru-RU" dirty="0"/>
              <a:t>не того типа/не тем оператором (например, </a:t>
            </a:r>
            <a:r>
              <a:rPr lang="en-US" dirty="0"/>
              <a:t>delete[] </a:t>
            </a:r>
            <a:r>
              <a:rPr lang="ru-RU" dirty="0"/>
              <a:t>вместо </a:t>
            </a:r>
            <a:r>
              <a:rPr lang="en-US" dirty="0"/>
              <a:t>delete </a:t>
            </a:r>
            <a:r>
              <a:rPr lang="ru-RU" dirty="0"/>
              <a:t>и наоборот)</a:t>
            </a:r>
            <a:endParaRPr lang="en-US" dirty="0"/>
          </a:p>
          <a:p>
            <a:pPr lvl="1"/>
            <a:r>
              <a:rPr lang="ru-RU" dirty="0"/>
              <a:t>двойной </a:t>
            </a:r>
            <a:r>
              <a:rPr lang="en-US" dirty="0"/>
              <a:t>delete</a:t>
            </a:r>
          </a:p>
          <a:p>
            <a:pPr lvl="1"/>
            <a:r>
              <a:rPr lang="en-US" dirty="0"/>
              <a:t>delete </a:t>
            </a:r>
            <a:r>
              <a:rPr lang="ru-RU" dirty="0"/>
              <a:t>на указатель не из </a:t>
            </a:r>
            <a:r>
              <a:rPr lang="en-US" dirty="0"/>
              <a:t>new</a:t>
            </a:r>
            <a:endParaRPr lang="ru-RU" dirty="0"/>
          </a:p>
          <a:p>
            <a:r>
              <a:rPr lang="ru-RU" dirty="0"/>
              <a:t>Нарушение требований выравнивания</a:t>
            </a:r>
          </a:p>
          <a:p>
            <a:pPr lvl="1"/>
            <a:r>
              <a:rPr lang="ru-RU" dirty="0"/>
              <a:t>доступ к объекту по адресу, не удовлетворяющему </a:t>
            </a:r>
            <a:r>
              <a:rPr lang="en-US" dirty="0" err="1"/>
              <a:t>alignof</a:t>
            </a:r>
            <a:r>
              <a:rPr lang="en-US" dirty="0"/>
              <a:t>(T)</a:t>
            </a:r>
          </a:p>
        </p:txBody>
      </p:sp>
    </p:spTree>
    <p:extLst>
      <p:ext uri="{BB962C8B-B14F-4D97-AF65-F5344CB8AC3E}">
        <p14:creationId xmlns:p14="http://schemas.microsoft.com/office/powerpoint/2010/main" val="246399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BF4B-7C2A-49B0-7FC8-1EA1A550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721E-A592-0CC8-F89F-10615741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0B9F9-7AEB-AA95-4B30-8724022C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 работе с указателями, ссылками и индексами</a:t>
            </a:r>
          </a:p>
          <a:p>
            <a:r>
              <a:rPr lang="ru-RU" dirty="0"/>
              <a:t>Разыменование </a:t>
            </a:r>
            <a:r>
              <a:rPr lang="en-US" dirty="0" err="1"/>
              <a:t>nullptr</a:t>
            </a:r>
            <a:endParaRPr lang="ru-RU" dirty="0"/>
          </a:p>
          <a:p>
            <a:r>
              <a:rPr lang="ru-RU" dirty="0"/>
              <a:t>Разыменование </a:t>
            </a:r>
            <a:r>
              <a:rPr lang="ru-RU" dirty="0" err="1"/>
              <a:t>невалидного</a:t>
            </a:r>
            <a:r>
              <a:rPr lang="ru-RU" dirty="0"/>
              <a:t> указателя (битый, освобождённый, указывающий на «не тот» объект)</a:t>
            </a:r>
          </a:p>
          <a:p>
            <a:r>
              <a:rPr lang="ru-RU" dirty="0"/>
              <a:t>Выход за границы массива/контейнера через сырой указатель/индекс</a:t>
            </a:r>
          </a:p>
          <a:p>
            <a:r>
              <a:rPr lang="ru-RU" dirty="0"/>
              <a:t>Неверная арифметика указателей</a:t>
            </a:r>
            <a:endParaRPr lang="en-US" dirty="0"/>
          </a:p>
          <a:p>
            <a:pPr lvl="1"/>
            <a:r>
              <a:rPr lang="en-US" dirty="0"/>
              <a:t>p + k </a:t>
            </a:r>
            <a:r>
              <a:rPr lang="ru-RU" dirty="0"/>
              <a:t>допустимо только в пределах того же массива (включая </a:t>
            </a:r>
            <a:r>
              <a:rPr lang="en-US" dirty="0"/>
              <a:t>one-past-the-end)</a:t>
            </a:r>
          </a:p>
          <a:p>
            <a:pPr lvl="1"/>
            <a:r>
              <a:rPr lang="ru-RU" dirty="0"/>
              <a:t>сравнение указателей на разные объекты — часто не </a:t>
            </a:r>
            <a:r>
              <a:rPr lang="en-US" dirty="0"/>
              <a:t>UB, </a:t>
            </a:r>
            <a:r>
              <a:rPr lang="ru-RU" dirty="0"/>
              <a:t>но результат может быть </a:t>
            </a:r>
            <a:r>
              <a:rPr lang="en-US" dirty="0"/>
              <a:t>unspecified/implementation-defined; </a:t>
            </a:r>
            <a:r>
              <a:rPr lang="ru-RU" dirty="0"/>
              <a:t>однако некоторые операции могут вести к </a:t>
            </a:r>
            <a:r>
              <a:rPr lang="en-US" dirty="0"/>
              <a:t>UB </a:t>
            </a:r>
            <a:r>
              <a:rPr lang="ru-RU" dirty="0"/>
              <a:t>при дальнейших предположениях (например, если вы потом </a:t>
            </a:r>
            <a:r>
              <a:rPr lang="ru-RU" dirty="0" err="1"/>
              <a:t>разыменуете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F07C-730A-03D4-8F88-8720F430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9A8D-CB7D-4758-A4D1-C2198CFB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C6A3-4DA1-DE40-DC75-4D7A757C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Переполнения и битовые операции</a:t>
            </a:r>
          </a:p>
          <a:p>
            <a:r>
              <a:rPr lang="ru-RU" dirty="0"/>
              <a:t>Знаковое переполнение</a:t>
            </a:r>
          </a:p>
          <a:p>
            <a:pPr lvl="1"/>
            <a:r>
              <a:rPr lang="en-US" dirty="0"/>
              <a:t>int X = INT_MAX; X++;</a:t>
            </a:r>
            <a:endParaRPr lang="ru-RU" dirty="0"/>
          </a:p>
          <a:p>
            <a:r>
              <a:rPr lang="ru-RU" dirty="0"/>
              <a:t>Сдвиги </a:t>
            </a:r>
          </a:p>
          <a:p>
            <a:pPr lvl="1"/>
            <a:r>
              <a:rPr lang="en-US" dirty="0"/>
              <a:t>x &lt;&lt; k, </a:t>
            </a:r>
            <a:r>
              <a:rPr lang="ru-RU" dirty="0"/>
              <a:t>где </a:t>
            </a:r>
            <a:r>
              <a:rPr lang="en-US" dirty="0"/>
              <a:t>k &lt; 0 </a:t>
            </a:r>
            <a:r>
              <a:rPr lang="ru-RU" dirty="0"/>
              <a:t>или </a:t>
            </a:r>
            <a:r>
              <a:rPr lang="en-US" dirty="0"/>
              <a:t>k &gt;= </a:t>
            </a:r>
            <a:r>
              <a:rPr lang="ru-RU" dirty="0"/>
              <a:t>ширины типа</a:t>
            </a:r>
          </a:p>
          <a:p>
            <a:r>
              <a:rPr lang="ru-RU" dirty="0"/>
              <a:t>Деление на 0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0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1B7E5-BF73-4DF5-2C72-35A81774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FC22-B13A-F58A-AF8D-154C5F53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431DC-64EA-CD6F-570E-3CF79334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Многопоточность</a:t>
            </a:r>
          </a:p>
          <a:p>
            <a:r>
              <a:rPr lang="en-US" dirty="0"/>
              <a:t>Race Condition</a:t>
            </a:r>
          </a:p>
          <a:p>
            <a:pPr lvl="1"/>
            <a:r>
              <a:rPr lang="ru-RU" dirty="0"/>
              <a:t>Если два потока обращаются к одной памяти, хотя бы один пишет, и нет синхронизации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Другое</a:t>
            </a:r>
          </a:p>
          <a:p>
            <a:r>
              <a:rPr lang="ru-RU" dirty="0"/>
              <a:t>чтение неинициализированной переменной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56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DDE5-4657-3A30-933A-8B005883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AE61-D40A-5C7D-B475-99A5AF7B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EEC6-54D0-7AF1-5F71-23BD9336A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STL</a:t>
            </a:r>
            <a:endParaRPr lang="ru-RU" dirty="0"/>
          </a:p>
          <a:p>
            <a:r>
              <a:rPr lang="ru-RU" dirty="0"/>
              <a:t>использовать итератор после </a:t>
            </a:r>
            <a:r>
              <a:rPr lang="ru-RU" dirty="0" err="1"/>
              <a:t>инвалидирования</a:t>
            </a:r>
            <a:endParaRPr lang="ru-RU" dirty="0"/>
          </a:p>
          <a:p>
            <a:r>
              <a:rPr lang="ru-RU" dirty="0"/>
              <a:t>разыменовывать </a:t>
            </a:r>
            <a:r>
              <a:rPr lang="en-US" dirty="0"/>
              <a:t>end()</a:t>
            </a:r>
            <a:endParaRPr lang="ru-RU" dirty="0"/>
          </a:p>
          <a:p>
            <a:r>
              <a:rPr lang="ru-RU" dirty="0"/>
              <a:t>обращаться к </a:t>
            </a:r>
            <a:r>
              <a:rPr lang="en-US" dirty="0"/>
              <a:t>vector[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ru-RU" dirty="0"/>
              <a:t>при </a:t>
            </a:r>
            <a:r>
              <a:rPr lang="en-US" dirty="0" err="1"/>
              <a:t>i</a:t>
            </a:r>
            <a:r>
              <a:rPr lang="en-US" dirty="0"/>
              <a:t> &gt;= size() (</a:t>
            </a:r>
            <a:r>
              <a:rPr lang="ru-RU" dirty="0"/>
              <a:t>в отличие от </a:t>
            </a:r>
            <a:r>
              <a:rPr lang="en-US" dirty="0"/>
              <a:t>at(), </a:t>
            </a:r>
            <a:r>
              <a:rPr lang="ru-RU" dirty="0"/>
              <a:t>которое бросает исключение)</a:t>
            </a:r>
          </a:p>
          <a:p>
            <a:r>
              <a:rPr lang="ru-RU" dirty="0"/>
              <a:t>нарушать требования алгоритма (например, передать неверный диапазон, не удовлетворяющий ожидаемым свойствам)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6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BA62-A78F-CDF8-AB8B-9F8E26E0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BEE0-30A5-D9A1-6E7F-D5ADA17E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Неопределенное поведение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BD3CE-273A-B85A-4564-48698E993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Практические рекомендации</a:t>
            </a:r>
            <a:endParaRPr lang="en-US" dirty="0"/>
          </a:p>
          <a:p>
            <a:r>
              <a:rPr lang="ru-RU" dirty="0"/>
              <a:t>включить все предупреждения компилятора </a:t>
            </a:r>
            <a:r>
              <a:rPr lang="en-US" dirty="0"/>
              <a:t>- </a:t>
            </a:r>
            <a:r>
              <a:rPr lang="en-US" b="1" dirty="0"/>
              <a:t>–Wall –</a:t>
            </a:r>
            <a:r>
              <a:rPr lang="en-US" b="1" dirty="0" err="1"/>
              <a:t>Wextra</a:t>
            </a:r>
            <a:endParaRPr lang="en-US" dirty="0"/>
          </a:p>
          <a:p>
            <a:r>
              <a:rPr lang="ru-RU" dirty="0"/>
              <a:t>использовать статические анализаторы – </a:t>
            </a:r>
            <a:r>
              <a:rPr lang="en-US" b="1" dirty="0" err="1"/>
              <a:t>cpp</a:t>
            </a:r>
            <a:r>
              <a:rPr lang="en-US" b="1" dirty="0"/>
              <a:t>-check</a:t>
            </a:r>
            <a:r>
              <a:rPr lang="en-US" dirty="0"/>
              <a:t>, </a:t>
            </a:r>
            <a:r>
              <a:rPr lang="en-US" b="1" dirty="0"/>
              <a:t>clang-tidy</a:t>
            </a:r>
            <a:r>
              <a:rPr lang="en-US" dirty="0"/>
              <a:t>, </a:t>
            </a:r>
            <a:r>
              <a:rPr lang="en-US" b="1" dirty="0" err="1"/>
              <a:t>coverity</a:t>
            </a:r>
            <a:endParaRPr lang="en-US" b="1" dirty="0"/>
          </a:p>
          <a:p>
            <a:r>
              <a:rPr lang="ru-RU" dirty="0"/>
              <a:t>используйте встроенные в компилятор возможности</a:t>
            </a:r>
            <a:r>
              <a:rPr lang="en-US" dirty="0"/>
              <a:t>,</a:t>
            </a:r>
            <a:r>
              <a:rPr lang="ru-RU" dirty="0"/>
              <a:t> например</a:t>
            </a:r>
            <a:r>
              <a:rPr lang="en-US" dirty="0"/>
              <a:t> </a:t>
            </a:r>
            <a:br>
              <a:rPr lang="ru-RU" dirty="0"/>
            </a:br>
            <a:r>
              <a:rPr lang="en-US" dirty="0"/>
              <a:t>-</a:t>
            </a:r>
            <a:r>
              <a:rPr lang="en-US" dirty="0" err="1"/>
              <a:t>ftrapv</a:t>
            </a:r>
            <a:r>
              <a:rPr lang="en-US" dirty="0"/>
              <a:t> </a:t>
            </a:r>
            <a:r>
              <a:rPr lang="ru-RU" dirty="0"/>
              <a:t>– поможет отловить переполнения знаковых целых и </a:t>
            </a:r>
            <a:r>
              <a:rPr lang="en-US" dirty="0" err="1"/>
              <a:t>UBSan</a:t>
            </a:r>
            <a:r>
              <a:rPr lang="en-US" dirty="0"/>
              <a:t>, </a:t>
            </a:r>
            <a:r>
              <a:rPr lang="en-US" dirty="0" err="1"/>
              <a:t>ASan</a:t>
            </a:r>
            <a:r>
              <a:rPr lang="en-US" dirty="0"/>
              <a:t>, </a:t>
            </a:r>
            <a:r>
              <a:rPr lang="en-US" dirty="0" err="1"/>
              <a:t>ThreadSan</a:t>
            </a:r>
            <a:r>
              <a:rPr lang="en-US" dirty="0"/>
              <a:t> – </a:t>
            </a:r>
            <a:r>
              <a:rPr lang="ru-RU" dirty="0"/>
              <a:t>имеют накладные расходы</a:t>
            </a:r>
            <a:endParaRPr lang="en-US" dirty="0"/>
          </a:p>
          <a:p>
            <a:r>
              <a:rPr lang="ru-RU" dirty="0"/>
              <a:t>используйте еще более мощные инструменты типа </a:t>
            </a:r>
            <a:r>
              <a:rPr lang="en-US" b="1" dirty="0" err="1"/>
              <a:t>Valgrind</a:t>
            </a:r>
            <a:endParaRPr lang="en-US" b="1" dirty="0"/>
          </a:p>
          <a:p>
            <a:r>
              <a:rPr lang="ru-RU" dirty="0"/>
              <a:t>используйте только надежные и проверенные сторонние библиотеки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03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Macintosh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Проектирование больших систем на С++</vt:lpstr>
      <vt:lpstr>Что выведет программа?</vt:lpstr>
      <vt:lpstr>Что выведет программа?</vt:lpstr>
      <vt:lpstr>Что может пойти не так?</vt:lpstr>
      <vt:lpstr>Что может пойти не так?</vt:lpstr>
      <vt:lpstr>Что может пойти не так?</vt:lpstr>
      <vt:lpstr>Что может пойти не так?</vt:lpstr>
      <vt:lpstr>Что может пойти не так?</vt:lpstr>
      <vt:lpstr>Что может пойти не так?</vt:lpstr>
      <vt:lpstr>Неопределенное поведение</vt:lpstr>
      <vt:lpstr>Неопределенное поведение</vt:lpstr>
      <vt:lpstr>Неопределенное поведение</vt:lpstr>
      <vt:lpstr>Неопределенное поведение</vt:lpstr>
      <vt:lpstr>Неопределенное поведение</vt:lpstr>
      <vt:lpstr>Неопределенное поведение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2026-01-17T11:08:27Z</dcterms:created>
  <dcterms:modified xsi:type="dcterms:W3CDTF">2026-01-17T11:09:49Z</dcterms:modified>
</cp:coreProperties>
</file>