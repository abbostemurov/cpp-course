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316" r:id="rId3"/>
    <p:sldId id="319" r:id="rId4"/>
    <p:sldId id="317" r:id="rId5"/>
    <p:sldId id="318" r:id="rId6"/>
    <p:sldId id="320" r:id="rId7"/>
    <p:sldId id="321" r:id="rId8"/>
    <p:sldId id="322" r:id="rId9"/>
    <p:sldId id="323" r:id="rId10"/>
    <p:sldId id="324" r:id="rId11"/>
    <p:sldId id="325" r:id="rId12"/>
    <p:sldId id="326" r:id="rId13"/>
    <p:sldId id="327" r:id="rId14"/>
    <p:sldId id="328" r:id="rId15"/>
    <p:sldId id="329" r:id="rId16"/>
    <p:sldId id="330" r:id="rId17"/>
    <p:sldId id="331" r:id="rId18"/>
    <p:sldId id="271" r:id="rId19"/>
    <p:sldId id="272" r:id="rId20"/>
    <p:sldId id="273" r:id="rId21"/>
    <p:sldId id="274" r:id="rId22"/>
    <p:sldId id="348" r:id="rId23"/>
    <p:sldId id="349" r:id="rId24"/>
    <p:sldId id="350" r:id="rId25"/>
    <p:sldId id="257" r:id="rId26"/>
    <p:sldId id="258" r:id="rId27"/>
    <p:sldId id="259" r:id="rId28"/>
    <p:sldId id="260" r:id="rId29"/>
    <p:sldId id="261" r:id="rId30"/>
    <p:sldId id="262" r:id="rId31"/>
    <p:sldId id="263" r:id="rId32"/>
    <p:sldId id="264" r:id="rId33"/>
    <p:sldId id="265" r:id="rId34"/>
    <p:sldId id="266" r:id="rId35"/>
    <p:sldId id="267" r:id="rId36"/>
    <p:sldId id="268" r:id="rId37"/>
    <p:sldId id="269" r:id="rId38"/>
    <p:sldId id="270" r:id="rId39"/>
    <p:sldId id="276" r:id="rId40"/>
    <p:sldId id="277" r:id="rId41"/>
    <p:sldId id="283" r:id="rId42"/>
    <p:sldId id="284" r:id="rId43"/>
    <p:sldId id="285" r:id="rId44"/>
    <p:sldId id="286" r:id="rId45"/>
    <p:sldId id="287" r:id="rId46"/>
    <p:sldId id="288" r:id="rId47"/>
    <p:sldId id="289" r:id="rId48"/>
    <p:sldId id="290" r:id="rId49"/>
    <p:sldId id="306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3"/>
    <p:restoredTop sz="94626"/>
  </p:normalViewPr>
  <p:slideViewPr>
    <p:cSldViewPr snapToGrid="0">
      <p:cViewPr varScale="1">
        <p:scale>
          <a:sx n="121" d="100"/>
          <a:sy n="121" d="100"/>
        </p:scale>
        <p:origin x="7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D92E5-529B-30D3-AE81-2245EEB8B9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3FE717-2789-1ADF-789C-BC3631FAF5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3C7001-F57A-720A-D942-661365558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2871B-4E3E-044D-8666-1C179B294C3A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4CEDF-B899-47F1-3D5D-46F82EA6C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3B222-B62F-CE47-703C-033E7AD9B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E0CF0-B38E-2942-8BFE-461943479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986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D5D9C-C8EB-5D3F-FBB4-A6FBADCF0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06AB6-CD36-8164-6662-959660E6A9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A2801A-4B1F-E5AD-91AE-C1E58F49A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2871B-4E3E-044D-8666-1C179B294C3A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512B68-1987-0A13-46F4-87036D901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B3B5B-C7F5-549E-EF76-D9ECF7CE1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E0CF0-B38E-2942-8BFE-461943479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065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2542F-9340-B78B-78F5-D583BDCD1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50F73C-8F15-2D41-7B8C-4F0ECFA470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BF951A-DF71-44C1-065D-2276C0D46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2871B-4E3E-044D-8666-1C179B294C3A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3297A-24D6-98A6-613A-4BD87A47F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20BC0-30A2-AF4A-9F5A-D9F5F792C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E0CF0-B38E-2942-8BFE-461943479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385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B8692-9E45-0F2C-9D85-37EDD94C7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357A0-2E00-DF70-5BE8-3791F148D0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5F8B3F-C613-B3AF-D2AA-6C2052341E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27C185-DDB2-A536-F5E2-BF24DAB64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2871B-4E3E-044D-8666-1C179B294C3A}" type="datetimeFigureOut">
              <a:rPr lang="en-US" smtClean="0"/>
              <a:t>1/9/26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271C3-F4C7-21C0-ECBE-07CD1BA19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45B6B3-B932-FB0E-EC75-A1F83156A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E0CF0-B38E-2942-8BFE-461943479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916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C9FAA-A76B-5B3C-91B5-88F07CB46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993C45-0017-BB60-D581-018624643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AF695F-BD38-E1FE-B60C-FF3A6CE331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76E78A-40C7-311B-624D-902838ABC9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427C1D-0BF2-6544-E0AA-980581A02F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32B2D8-3127-24D9-32DD-624662607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2871B-4E3E-044D-8666-1C179B294C3A}" type="datetimeFigureOut">
              <a:rPr lang="en-US" smtClean="0"/>
              <a:t>1/9/26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8EF6D9-DE8E-0C9B-F7B2-5072C43F3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4C11CE-C685-F3FD-B5C8-01C02BE71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E0CF0-B38E-2942-8BFE-461943479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948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68EBC-FA9A-1531-DE4B-325E09B4B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6788C0-2D4F-2AD3-7956-8A17918A5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2871B-4E3E-044D-8666-1C179B294C3A}" type="datetimeFigureOut">
              <a:rPr lang="en-US" smtClean="0"/>
              <a:t>1/9/26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3A1AB5-3364-AEAA-89D0-3454BC57B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078AE7-239E-3666-B093-8FB58D4AA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E0CF0-B38E-2942-8BFE-461943479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356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255DD1-FDE7-A0A0-F57B-D1C1E8BC4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2871B-4E3E-044D-8666-1C179B294C3A}" type="datetimeFigureOut">
              <a:rPr lang="en-US" smtClean="0"/>
              <a:t>1/9/26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6CA79F-E2DF-15E2-EB27-896E71A9F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4D4973-47BE-956D-AFCA-7A3E12690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E0CF0-B38E-2942-8BFE-461943479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133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A0B97-FABE-536E-1131-1A8B94737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F00B7-6174-1F0F-8CF9-03CDB4B90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1EFE41-2800-8619-C21F-962FC45581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E3439-D29B-7BC8-F11A-43D56B470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2871B-4E3E-044D-8666-1C179B294C3A}" type="datetimeFigureOut">
              <a:rPr lang="en-US" smtClean="0"/>
              <a:t>1/9/26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4E8AF4-F5EE-3C6D-1891-1A8B6EFB8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43B225-0672-54BA-ADF6-28147D8BB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E0CF0-B38E-2942-8BFE-461943479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229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B0197-65AB-1740-F6F9-CA919D793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137A10-BC71-1D05-22FF-036A8B3921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3AF74C-71CE-74D5-8728-B9B75F35F2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0FB09C-7879-ACDC-8DEC-E9DACDDFB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2871B-4E3E-044D-8666-1C179B294C3A}" type="datetimeFigureOut">
              <a:rPr lang="en-US" smtClean="0"/>
              <a:t>1/9/26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10F59B-9BD5-76A3-1083-B5AC75AA3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C743C0-D63E-B688-E0A5-13387ABA6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E0CF0-B38E-2942-8BFE-461943479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990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D224D-867D-A18D-8ABB-FF585D057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43086A-E4B4-D311-37AC-C8887D6622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FB24C-AC96-33F6-35D0-1D8E13A0F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2871B-4E3E-044D-8666-1C179B294C3A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BB54A-8F50-E940-2A40-97E7CD17F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EA62D-57FC-6731-62B6-9D5407D99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E0CF0-B38E-2942-8BFE-461943479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78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3693F3-48E6-44F2-4BEC-73BAFAE6CC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A09CB6-E8F3-493B-D352-C0BD613791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549EF-D742-1B82-7163-4F3D0E1D8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2871B-4E3E-044D-8666-1C179B294C3A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2E140-9173-0EF5-DE28-E2946C13F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52362-F3F1-AA1A-B9CE-9DD8D0BA4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E0CF0-B38E-2942-8BFE-461943479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462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248814-53FC-C149-E976-D78F11EC3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773379-60CC-9A2C-1592-8206CE7A7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FEB4AE-93BB-2C45-4845-7B1F23A71D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F2871B-4E3E-044D-8666-1C179B294C3A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6F6EF1-39D2-75FC-F3B2-85DD4AED51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AD8E9-0436-DCE8-A145-3D899DD939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7E0CF0-B38E-2942-8BFE-461943479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025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github.com/ivmai/bdwgc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50EA2-F996-5E5E-D679-B7FFDD42D2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Проектирование больших систем на С++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62D153-5B78-BB5B-6824-6A72FD9E32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январь 2026</a:t>
            </a:r>
          </a:p>
          <a:p>
            <a:r>
              <a:rPr lang="ru-RU" dirty="0"/>
              <a:t>Нововведения С++11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925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C7569-E6DA-8EEB-8B2F-FA0DF4165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31EE2-4A9A-A940-4733-471CD0F59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Управление памятью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4CB1E-A97F-DBFE-FBDE-4C48269FA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 С++ управление памятью можно разделить на: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malloc/free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operator new/operator delete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std::allocator</a:t>
            </a:r>
            <a:endParaRPr lang="ru-RU" b="1" dirty="0"/>
          </a:p>
          <a:p>
            <a:pPr marL="514350" indent="-514350">
              <a:buFont typeface="+mj-lt"/>
              <a:buAutoNum type="arabicPeriod"/>
            </a:pPr>
            <a:endParaRPr lang="ru-RU" dirty="0"/>
          </a:p>
          <a:p>
            <a:pPr marL="0" indent="0">
              <a:buNone/>
            </a:pPr>
            <a:r>
              <a:rPr lang="ru-RU" dirty="0"/>
              <a:t>Конструкция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 *x = new T()</a:t>
            </a:r>
            <a:r>
              <a:rPr lang="en-US" dirty="0">
                <a:cs typeface="Consolas" panose="020B0609020204030204" pitchFamily="49" charset="0"/>
              </a:rPr>
              <a:t> </a:t>
            </a:r>
            <a:r>
              <a:rPr lang="ru-RU" dirty="0"/>
              <a:t>проводит две операции: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выделяет память</a:t>
            </a:r>
            <a:r>
              <a:rPr lang="en-US" dirty="0"/>
              <a:t> (allocate)</a:t>
            </a:r>
            <a:endParaRPr lang="ru-RU" dirty="0"/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вызывает конструктор</a:t>
            </a:r>
            <a:r>
              <a:rPr lang="en-US" dirty="0"/>
              <a:t> (construct)</a:t>
            </a:r>
          </a:p>
        </p:txBody>
      </p:sp>
    </p:spTree>
    <p:extLst>
      <p:ext uri="{BB962C8B-B14F-4D97-AF65-F5344CB8AC3E}">
        <p14:creationId xmlns:p14="http://schemas.microsoft.com/office/powerpoint/2010/main" val="3730819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904DB-39A5-E0B6-2D23-3581E6A9E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14431-EF09-37B0-8EE6-52B873297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Управление памятью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97356-44A1-93DF-C355-1CF486203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E19BB6-62FC-CC4D-15F7-255A7D47F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00317"/>
            <a:ext cx="7772400" cy="42019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0D65DF3-8252-9483-193A-BFF8058D1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9526" y="2212208"/>
            <a:ext cx="5397500" cy="520700"/>
          </a:xfrm>
          <a:prstGeom prst="rect">
            <a:avLst/>
          </a:prstGeom>
          <a:ln w="952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89039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AFAB0-1C4D-1704-AF56-446F0DEA5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7E24B-1919-F6EF-702C-2C3F1EE52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Управление памятью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6E192-53EF-2617-345A-2FC5436E8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7656A3-FCEE-FBF4-9DD1-3F505EEB5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67818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148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EEC0B-9D6E-4ED1-C825-FA0F0619A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26C81-66CA-0FCB-42AE-F3ED08DAC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Управление памятью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5ECDE-0A8B-30A3-751E-F75ED5216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D85820-B2D8-0BC8-CDC7-6BDE0CE3B7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5207000" cy="374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804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B8F31-0DAE-4ED6-391F-B7D60E8B5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DAFCE-8D4B-E339-10E1-8C9C733BC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Управление памятью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066DA-C18E-B1E7-16BC-1E95A280E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dirty="0"/>
              <a:t>Парность форм</a:t>
            </a:r>
            <a:br>
              <a:rPr lang="en-US" dirty="0"/>
            </a:br>
            <a:r>
              <a:rPr lang="ru-RU" dirty="0"/>
              <a:t>Переопределили </a:t>
            </a:r>
            <a:r>
              <a:rPr lang="en-US" dirty="0"/>
              <a:t>operator new </a:t>
            </a:r>
            <a:r>
              <a:rPr lang="ru-RU" dirty="0"/>
              <a:t>→</a:t>
            </a:r>
            <a:r>
              <a:rPr lang="en-US" dirty="0"/>
              <a:t> </a:t>
            </a:r>
            <a:r>
              <a:rPr lang="ru-RU" dirty="0"/>
              <a:t>переопределите и соответствующий </a:t>
            </a:r>
            <a:r>
              <a:rPr lang="en-US" dirty="0"/>
              <a:t>operator delete </a:t>
            </a:r>
            <a:r>
              <a:rPr lang="ru-RU" dirty="0"/>
              <a:t>иначе при исключении в конструкторе компилятор будет искать подходящий </a:t>
            </a:r>
            <a:r>
              <a:rPr lang="en-US" dirty="0"/>
              <a:t>delete </a:t>
            </a:r>
            <a:r>
              <a:rPr lang="ru-RU" dirty="0"/>
              <a:t>для отката</a:t>
            </a:r>
          </a:p>
          <a:p>
            <a:r>
              <a:rPr lang="ru-RU" b="1" dirty="0"/>
              <a:t>Для массивов – отдельные формы</a:t>
            </a:r>
            <a:br>
              <a:rPr lang="en-US" dirty="0"/>
            </a:br>
            <a:r>
              <a:rPr lang="ru-RU" dirty="0"/>
              <a:t>Если используете </a:t>
            </a:r>
            <a:r>
              <a:rPr lang="en-US" dirty="0"/>
              <a:t>new[], </a:t>
            </a:r>
            <a:r>
              <a:rPr lang="ru-RU" dirty="0"/>
              <a:t>нужны </a:t>
            </a:r>
            <a:r>
              <a:rPr lang="en-US" dirty="0"/>
              <a:t>operator new[]/delete[].</a:t>
            </a:r>
          </a:p>
          <a:p>
            <a:r>
              <a:rPr lang="ru-RU" b="1" dirty="0"/>
              <a:t>Исключения и </a:t>
            </a:r>
            <a:r>
              <a:rPr lang="en-US" b="1" dirty="0" err="1"/>
              <a:t>noexcept</a:t>
            </a:r>
            <a:br>
              <a:rPr lang="en-US" dirty="0"/>
            </a:br>
            <a:r>
              <a:rPr lang="en-US" dirty="0"/>
              <a:t>operator new </a:t>
            </a:r>
            <a:r>
              <a:rPr lang="ru-RU" dirty="0"/>
              <a:t>обычно бросает </a:t>
            </a:r>
            <a:r>
              <a:rPr lang="en-US" dirty="0"/>
              <a:t>std::</a:t>
            </a:r>
            <a:r>
              <a:rPr lang="en-US" dirty="0" err="1"/>
              <a:t>bad_alloc</a:t>
            </a:r>
            <a:br>
              <a:rPr lang="en-US" dirty="0"/>
            </a:br>
            <a:r>
              <a:rPr lang="en-US" dirty="0"/>
              <a:t>operator delete </a:t>
            </a:r>
            <a:r>
              <a:rPr lang="ru-RU" dirty="0"/>
              <a:t>должен быть </a:t>
            </a:r>
            <a:r>
              <a:rPr lang="en-US" dirty="0" err="1"/>
              <a:t>noexcept</a:t>
            </a:r>
            <a:endParaRPr lang="en-US" dirty="0"/>
          </a:p>
          <a:p>
            <a:r>
              <a:rPr lang="ru-RU" b="1" dirty="0"/>
              <a:t>Выравнивание</a:t>
            </a:r>
            <a:br>
              <a:rPr lang="en-US" dirty="0"/>
            </a:br>
            <a:r>
              <a:rPr lang="ru-RU" dirty="0"/>
              <a:t>Если в коде встречаются </a:t>
            </a:r>
            <a:r>
              <a:rPr lang="en-US" dirty="0"/>
              <a:t>over-aligned </a:t>
            </a:r>
            <a:r>
              <a:rPr lang="ru-RU" dirty="0"/>
              <a:t>типы, добавляйте </a:t>
            </a:r>
            <a:r>
              <a:rPr lang="en-US" dirty="0"/>
              <a:t>aligned overload’</a:t>
            </a:r>
            <a:r>
              <a:rPr lang="ru-RU" dirty="0"/>
              <a:t>ы.</a:t>
            </a:r>
          </a:p>
        </p:txBody>
      </p:sp>
    </p:spTree>
    <p:extLst>
      <p:ext uri="{BB962C8B-B14F-4D97-AF65-F5344CB8AC3E}">
        <p14:creationId xmlns:p14="http://schemas.microsoft.com/office/powerpoint/2010/main" val="643978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A75D3-CD73-6C95-C6CB-95606BFA4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C8514-7F3D-0BE0-3C8F-51741A7F6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Управления памятью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B00EB-CDD1-042A-3B5C-CEF9FB2F0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Сборщик мусора (</a:t>
            </a:r>
            <a:r>
              <a:rPr lang="en-US" b="1" dirty="0"/>
              <a:t>Garbage Collector, GC</a:t>
            </a:r>
            <a:r>
              <a:rPr lang="en-US" dirty="0"/>
              <a:t>) — </a:t>
            </a:r>
            <a:r>
              <a:rPr lang="ru-RU" dirty="0"/>
              <a:t>это механизм, который автоматически находит и освобождает неиспользуемые объекты в памяти.</a:t>
            </a:r>
          </a:p>
          <a:p>
            <a:pPr marL="0" indent="0">
              <a:buNone/>
            </a:pPr>
            <a:r>
              <a:rPr lang="en-US" b="1" dirty="0"/>
              <a:t>Boehm-Demers-Weiser Garbage Collector</a:t>
            </a:r>
            <a:br>
              <a:rPr lang="ru-RU" dirty="0"/>
            </a:br>
            <a:r>
              <a:rPr lang="ru-RU" dirty="0"/>
              <a:t>(</a:t>
            </a:r>
            <a:r>
              <a:rPr lang="en-US" dirty="0">
                <a:hlinkClick r:id="rId2"/>
              </a:rPr>
              <a:t>https://github.com/ivmai/bdwgc/</a:t>
            </a:r>
            <a:r>
              <a:rPr lang="ru-RU" dirty="0"/>
              <a:t>)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72BE19-21ED-C4A9-DD6C-4F2B452E4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001294"/>
            <a:ext cx="4470400" cy="5207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AFE9FA5-B5C2-F880-217F-BE908642B7B8}"/>
              </a:ext>
            </a:extLst>
          </p:cNvPr>
          <p:cNvSpPr txBox="1"/>
          <p:nvPr/>
        </p:nvSpPr>
        <p:spPr>
          <a:xfrm>
            <a:off x="2343807" y="5044966"/>
            <a:ext cx="75043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i="1" dirty="0"/>
              <a:t>“</a:t>
            </a:r>
            <a:r>
              <a:rPr lang="en-US" dirty="0"/>
              <a:t>Actually, what I said was something like "When (not if) automatic garbage collection becomes part of C++, it will be optional</a:t>
            </a:r>
            <a:r>
              <a:rPr lang="en-US" altLang="en-US" i="1" dirty="0"/>
              <a:t>.</a:t>
            </a:r>
            <a:r>
              <a:rPr lang="en-US" dirty="0"/>
              <a:t> "</a:t>
            </a:r>
            <a:r>
              <a:rPr lang="en-US" altLang="en-US" i="1" dirty="0"/>
              <a:t>”</a:t>
            </a:r>
            <a:br>
              <a:rPr lang="en-US" altLang="en-US" dirty="0"/>
            </a:br>
            <a:r>
              <a:rPr lang="en-US" altLang="en-US" dirty="0"/>
              <a:t>— </a:t>
            </a:r>
            <a:r>
              <a:rPr lang="ru-RU" altLang="en-US" b="1" dirty="0" err="1"/>
              <a:t>Бьёрн</a:t>
            </a:r>
            <a:r>
              <a:rPr lang="ru-RU" altLang="en-US" b="1" dirty="0"/>
              <a:t> Страуструп</a:t>
            </a:r>
            <a:r>
              <a:rPr lang="ru-RU" altLang="en-US" dirty="0"/>
              <a:t>, создатель С++</a:t>
            </a:r>
            <a:endParaRPr lang="en-US" altLang="en-US" dirty="0"/>
          </a:p>
          <a:p>
            <a:endParaRPr lang="en-US" dirty="0"/>
          </a:p>
        </p:txBody>
      </p:sp>
      <p:sp>
        <p:nvSpPr>
          <p:cNvPr id="8" name="Rectangle 20">
            <a:extLst>
              <a:ext uri="{FF2B5EF4-FFF2-40B4-BE49-F238E27FC236}">
                <a16:creationId xmlns:a16="http://schemas.microsoft.com/office/drawing/2014/main" id="{5095735D-2F9B-6A77-F3FB-89A625ACAE96}"/>
              </a:ext>
            </a:extLst>
          </p:cNvPr>
          <p:cNvSpPr/>
          <p:nvPr/>
        </p:nvSpPr>
        <p:spPr>
          <a:xfrm>
            <a:off x="2259724" y="4981114"/>
            <a:ext cx="84083" cy="108335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528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CE7C3-0CDB-7579-63D0-3E6D6C681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E7765-E155-9A9D-C6C8-B4D063CBB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Управления памятью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7F26A-FFED-3879-1BC6-DA1B5CDF04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Сборщики мусора:</a:t>
            </a:r>
          </a:p>
          <a:p>
            <a:r>
              <a:rPr lang="ru-RU" b="1" dirty="0"/>
              <a:t>всегда работают медленнее</a:t>
            </a:r>
            <a:r>
              <a:rPr lang="ru-RU" dirty="0"/>
              <a:t>, чем другие техники</a:t>
            </a:r>
            <a:r>
              <a:rPr lang="en-US" dirty="0"/>
              <a:t> </a:t>
            </a:r>
            <a:r>
              <a:rPr lang="ru-RU" dirty="0"/>
              <a:t>управления памятью; порождает неочевидные задержки в произвольных частях программы.</a:t>
            </a:r>
          </a:p>
          <a:p>
            <a:r>
              <a:rPr lang="ru-RU" dirty="0"/>
              <a:t>освобождают память </a:t>
            </a:r>
            <a:r>
              <a:rPr lang="ru-RU" dirty="0" err="1"/>
              <a:t>недетерминированно</a:t>
            </a:r>
            <a:r>
              <a:rPr lang="ru-RU" dirty="0"/>
              <a:t>,</a:t>
            </a:r>
            <a:r>
              <a:rPr lang="en-US" dirty="0"/>
              <a:t> </a:t>
            </a:r>
            <a:r>
              <a:rPr lang="ru-RU" dirty="0"/>
              <a:t>то есть </a:t>
            </a:r>
            <a:r>
              <a:rPr lang="ru-RU" b="1" dirty="0"/>
              <a:t>вызов деструкторов становится небезопасным </a:t>
            </a:r>
            <a:r>
              <a:rPr lang="ru-RU" dirty="0"/>
              <a:t>и </a:t>
            </a:r>
            <a:r>
              <a:rPr lang="ru-RU" b="1" dirty="0"/>
              <a:t>управление всеми иными ресурсами</a:t>
            </a:r>
            <a:r>
              <a:rPr lang="ru-RU" dirty="0"/>
              <a:t> (кроме памяти) все еще в ответственности программистов.</a:t>
            </a:r>
          </a:p>
          <a:p>
            <a:r>
              <a:rPr lang="ru-RU" b="1" dirty="0"/>
              <a:t>не избавляют от утечек памяти</a:t>
            </a:r>
            <a:r>
              <a:rPr lang="ru-RU" dirty="0"/>
              <a:t>, если внимательно не следить за уничтожением ссылок на объекты. </a:t>
            </a:r>
          </a:p>
        </p:txBody>
      </p:sp>
    </p:spTree>
    <p:extLst>
      <p:ext uri="{BB962C8B-B14F-4D97-AF65-F5344CB8AC3E}">
        <p14:creationId xmlns:p14="http://schemas.microsoft.com/office/powerpoint/2010/main" val="2932102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7942B-EF0E-405A-30DD-0318D71DA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F0CAF-9B54-C225-395A-0F3C4AC52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Управления памятью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92A27-D1B3-315D-EE09-763D27AB4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1356EE2-575B-0C72-0DBD-323AE8E1A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24914"/>
            <a:ext cx="7013028" cy="4952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137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F0F1C-6844-834B-C2DD-81A1B7D34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D992F-1D5D-F514-0E72-858C69310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Управления памятью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65B3D-DB50-BF01-D61C-FC2772C7B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T* std::allocator&lt;T&gt;::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allocate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size_t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buFont typeface="System Font Regular"/>
              <a:buChar char="-"/>
            </a:pPr>
            <a:r>
              <a:rPr lang="en-US" b="1" dirty="0"/>
              <a:t>n</a:t>
            </a:r>
            <a:r>
              <a:rPr lang="en-US" dirty="0"/>
              <a:t> </a:t>
            </a:r>
            <a:r>
              <a:rPr lang="ru-RU" dirty="0"/>
              <a:t>число экземпляров </a:t>
            </a:r>
            <a:r>
              <a:rPr lang="en-US" b="1" dirty="0"/>
              <a:t>T</a:t>
            </a:r>
            <a:r>
              <a:rPr lang="en-US" dirty="0"/>
              <a:t>, </a:t>
            </a:r>
            <a:r>
              <a:rPr lang="ru-RU" dirty="0"/>
              <a:t>НЕ байтов</a:t>
            </a:r>
          </a:p>
          <a:p>
            <a:pPr>
              <a:buFont typeface="System Font Regular"/>
              <a:buChar char="-"/>
            </a:pPr>
            <a:r>
              <a:rPr lang="ru-RU" dirty="0"/>
              <a:t>возвращает указатель на область памяти, достаточную</a:t>
            </a:r>
            <a:r>
              <a:rPr lang="en-US" dirty="0"/>
              <a:t> </a:t>
            </a:r>
            <a:br>
              <a:rPr lang="en-US" dirty="0"/>
            </a:br>
            <a:r>
              <a:rPr lang="ru-RU" dirty="0"/>
              <a:t>для хранения </a:t>
            </a:r>
            <a:r>
              <a:rPr lang="en-US" b="1" dirty="0"/>
              <a:t>n</a:t>
            </a:r>
            <a:r>
              <a:rPr lang="en-US" dirty="0"/>
              <a:t> </a:t>
            </a:r>
            <a:r>
              <a:rPr lang="en-US" b="1" dirty="0"/>
              <a:t>* </a:t>
            </a:r>
            <a:r>
              <a:rPr lang="en-US" b="1" dirty="0" err="1"/>
              <a:t>sizeof</a:t>
            </a:r>
            <a:r>
              <a:rPr lang="en-US" b="1" dirty="0"/>
              <a:t>(T) </a:t>
            </a:r>
            <a:r>
              <a:rPr lang="ru-RU" dirty="0"/>
              <a:t>байт</a:t>
            </a:r>
          </a:p>
          <a:p>
            <a:pPr>
              <a:buFont typeface="System Font Regular"/>
              <a:buChar char="-"/>
            </a:pPr>
            <a:r>
              <a:rPr lang="ru-RU" dirty="0"/>
              <a:t>возвращает просто байты памяти, НЕ конструирует</a:t>
            </a:r>
          </a:p>
          <a:p>
            <a:pPr>
              <a:buFont typeface="System Font Regular"/>
              <a:buChar char="-"/>
            </a:pPr>
            <a:r>
              <a:rPr lang="ru-RU" dirty="0"/>
              <a:t>может бросать</a:t>
            </a:r>
            <a:r>
              <a:rPr lang="en-US" dirty="0"/>
              <a:t> </a:t>
            </a:r>
            <a:r>
              <a:rPr lang="ru-RU" dirty="0"/>
              <a:t>исключение (</a:t>
            </a:r>
            <a:r>
              <a:rPr lang="en-US" b="1" dirty="0"/>
              <a:t>std::</a:t>
            </a:r>
            <a:r>
              <a:rPr lang="en-US" b="1" dirty="0" err="1"/>
              <a:t>bad_alloc</a:t>
            </a:r>
            <a:r>
              <a:rPr lang="en-US" dirty="0"/>
              <a:t>)</a:t>
            </a:r>
          </a:p>
          <a:p>
            <a:pPr>
              <a:buFont typeface="System Font Regular"/>
              <a:buChar char="-"/>
            </a:pPr>
            <a:r>
              <a:rPr lang="ru-RU" dirty="0"/>
              <a:t>по умолчанию вызывает </a:t>
            </a:r>
            <a:r>
              <a:rPr lang="ru-RU" b="1" dirty="0"/>
              <a:t>::</a:t>
            </a:r>
            <a:r>
              <a:rPr lang="en-US" b="1" dirty="0"/>
              <a:t>operator new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612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345AE-09C7-C288-3D9C-CFFBB745D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5FABF-43D9-CE39-3763-1AFAC7B2E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Управления памятью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16CA3-91EE-C70C-4152-AE3417740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void std::allocator&lt;T&gt;::deallocate(T*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size_t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buFont typeface="System Font Regular"/>
              <a:buChar char="-"/>
            </a:pPr>
            <a:r>
              <a:rPr lang="en-US" b="1" dirty="0"/>
              <a:t>p</a:t>
            </a:r>
            <a:r>
              <a:rPr lang="en-US" dirty="0"/>
              <a:t> </a:t>
            </a:r>
            <a:r>
              <a:rPr lang="ru-RU" dirty="0"/>
              <a:t>должен получать результат функции </a:t>
            </a:r>
            <a:r>
              <a:rPr lang="en-US" dirty="0"/>
              <a:t>allocate()</a:t>
            </a:r>
          </a:p>
          <a:p>
            <a:pPr>
              <a:buFont typeface="System Font Regular"/>
              <a:buChar char="-"/>
            </a:pPr>
            <a:r>
              <a:rPr lang="en-US" b="1" dirty="0"/>
              <a:t>p</a:t>
            </a:r>
            <a:r>
              <a:rPr lang="en-US" dirty="0"/>
              <a:t> </a:t>
            </a:r>
            <a:r>
              <a:rPr lang="ru-RU" dirty="0"/>
              <a:t>должен быть набором байт</a:t>
            </a:r>
            <a:r>
              <a:rPr lang="en-US" dirty="0"/>
              <a:t>, </a:t>
            </a:r>
            <a:r>
              <a:rPr lang="ru-RU" dirty="0"/>
              <a:t>уже деконструированным</a:t>
            </a:r>
          </a:p>
          <a:p>
            <a:pPr>
              <a:buFont typeface="System Font Regular"/>
              <a:buChar char="-"/>
            </a:pPr>
            <a:r>
              <a:rPr lang="en-US" b="1" dirty="0"/>
              <a:t>n</a:t>
            </a:r>
            <a:r>
              <a:rPr lang="en-US" dirty="0"/>
              <a:t> </a:t>
            </a:r>
            <a:r>
              <a:rPr lang="ru-RU" dirty="0"/>
              <a:t>должен соответствовать значению </a:t>
            </a:r>
            <a:r>
              <a:rPr lang="en-US" b="1" dirty="0"/>
              <a:t>n</a:t>
            </a:r>
            <a:r>
              <a:rPr lang="en-US" dirty="0"/>
              <a:t>, </a:t>
            </a:r>
            <a:r>
              <a:rPr lang="ru-RU" dirty="0"/>
              <a:t>переданному в функцию </a:t>
            </a:r>
            <a:r>
              <a:rPr lang="en-US" dirty="0"/>
              <a:t>allocate()</a:t>
            </a:r>
          </a:p>
          <a:p>
            <a:pPr>
              <a:buFont typeface="System Font Regular"/>
              <a:buChar char="-"/>
            </a:pPr>
            <a:r>
              <a:rPr lang="ru-RU" dirty="0"/>
              <a:t>по умолчанию вызывает </a:t>
            </a:r>
            <a:r>
              <a:rPr lang="ru-RU" b="1" dirty="0"/>
              <a:t>::</a:t>
            </a:r>
            <a:r>
              <a:rPr lang="en-US" b="1" dirty="0"/>
              <a:t>operator delete(void*)</a:t>
            </a:r>
          </a:p>
          <a:p>
            <a:pPr>
              <a:buFont typeface="System Font Regular"/>
              <a:buChar char="-"/>
            </a:pPr>
            <a:r>
              <a:rPr lang="ru-RU" dirty="0"/>
              <a:t>большинство реализаций разрешают и игнорируют значение </a:t>
            </a:r>
            <a:r>
              <a:rPr lang="en-US" b="1" dirty="0" err="1"/>
              <a:t>nullptr</a:t>
            </a:r>
            <a:r>
              <a:rPr lang="ru-RU" dirty="0"/>
              <a:t> аргумента </a:t>
            </a:r>
            <a:r>
              <a:rPr lang="en-US" b="1" dirty="0"/>
              <a:t>p</a:t>
            </a:r>
            <a:endParaRPr lang="ru-RU" b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31036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5F32A-974F-7825-6B9C-F667A67B9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4AA33-5F9D-A542-5CCA-4DC2272E5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Управления памятью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D95A83C-C94C-BB37-A857-B6F7EC854A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B74FE10-6238-71FF-C0CA-96DB41623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24944"/>
            <a:ext cx="5842000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1484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D63E5-937B-7D36-B1DC-03623C7E5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181C9-7BE0-CE1A-8B1A-A1B550BCC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Управления памятью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842AE-37DE-1D19-8110-D291391F4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229755-9C3C-FEC8-E62C-F09D5F68A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5918200" cy="483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4933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EDAFA-68EE-D39F-9739-4B4AB9892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EE402-F340-B5DF-2811-AA2A47364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Управления памятью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4797A-7F89-B8EE-700B-0EE18490D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/>
              <a:t>Зачем нужен </a:t>
            </a:r>
            <a:r>
              <a:rPr lang="en-US" b="1" dirty="0"/>
              <a:t>rebind?</a:t>
            </a:r>
          </a:p>
          <a:p>
            <a:pPr marL="0" indent="0">
              <a:buNone/>
            </a:pPr>
            <a:r>
              <a:rPr lang="ru-RU" dirty="0"/>
              <a:t>Не все контейнеры выделяют память под тип </a:t>
            </a:r>
            <a:r>
              <a:rPr lang="en-US" dirty="0"/>
              <a:t>T</a:t>
            </a:r>
            <a:r>
              <a:rPr lang="ru-RU" dirty="0"/>
              <a:t>, например </a:t>
            </a:r>
            <a:r>
              <a:rPr lang="en-US" dirty="0"/>
              <a:t>std::list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template&lt;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typename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U&gt; struct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rebind </a:t>
            </a:r>
            <a:b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{ typedef allocator&lt;U&gt; other; }</a:t>
            </a:r>
          </a:p>
          <a:p>
            <a:pPr marL="0" indent="0">
              <a:buNone/>
            </a:pPr>
            <a:r>
              <a:rPr lang="ru-RU" dirty="0"/>
              <a:t>Теперь можем выделять память под что-то другое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std::allocator&lt;T&gt; a;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T* t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a.allocate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(1);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Alloc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&lt;T&gt;::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rebind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&lt;N&gt;::other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na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N* n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na.allocate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(1);</a:t>
            </a:r>
            <a:endParaRPr lang="ru-RU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>
              <a:cs typeface="Consolas" panose="020B0609020204030204" pitchFamily="49" charset="0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950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ABFDD-A8E4-B412-A919-0D9EE78F2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961D2-8363-AFE9-AD29-561A81E90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Управления памятью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0455A-828E-0651-D521-FADC606B8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Наследоваться от </a:t>
            </a:r>
            <a:r>
              <a:rPr lang="en-US" dirty="0"/>
              <a:t>std::allocator </a:t>
            </a:r>
            <a:r>
              <a:rPr lang="ru-RU" dirty="0"/>
              <a:t>можно, но стоит учитывать, что он не был спроектирован для этого. Например: у него нет </a:t>
            </a:r>
            <a:r>
              <a:rPr lang="ru-RU" b="1" dirty="0"/>
              <a:t>виртуального деструктора </a:t>
            </a:r>
            <a:r>
              <a:rPr lang="ru-RU" dirty="0"/>
              <a:t>– то есть могут возникнуть проблемы с </a:t>
            </a:r>
            <a:r>
              <a:rPr lang="ru-RU" dirty="0" err="1"/>
              <a:t>аллокаторами</a:t>
            </a:r>
            <a:r>
              <a:rPr lang="ru-RU" dirty="0"/>
              <a:t> имеющими состояние </a:t>
            </a:r>
            <a:r>
              <a:rPr lang="en-US" dirty="0"/>
              <a:t>(stateful-</a:t>
            </a:r>
            <a:r>
              <a:rPr lang="ru-RU" dirty="0" err="1"/>
              <a:t>аллокаторы</a:t>
            </a:r>
            <a:r>
              <a:rPr lang="ru-RU" dirty="0"/>
              <a:t>).</a:t>
            </a:r>
          </a:p>
          <a:p>
            <a:pPr marL="0" indent="0">
              <a:buNone/>
            </a:pPr>
            <a:r>
              <a:rPr lang="ru-RU" dirty="0"/>
              <a:t>Лучше писать с нуля. </a:t>
            </a:r>
            <a:r>
              <a:rPr lang="en-US" dirty="0"/>
              <a:t>stateful-</a:t>
            </a:r>
            <a:r>
              <a:rPr lang="ru-RU" dirty="0" err="1"/>
              <a:t>аллокаторы</a:t>
            </a:r>
            <a:r>
              <a:rPr lang="ru-RU" dirty="0"/>
              <a:t> поддерживаются в </a:t>
            </a:r>
            <a:r>
              <a:rPr lang="en-US" dirty="0"/>
              <a:t>STL </a:t>
            </a:r>
            <a:r>
              <a:rPr lang="ru-RU" dirty="0"/>
              <a:t>с С++11.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6800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2A830-DB4E-BA27-56B4-FB6670CCA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10A2A-8AB0-53B8-2F08-2D993BD46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Управления памятью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C8453-DB0E-7597-E457-B2E75BB9C7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3B3D26-9BA1-78F3-068C-B4DF0836F8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57375"/>
            <a:ext cx="4927600" cy="463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0866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DE473-E5AB-6D2F-8607-E0984BEA7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CA520-3819-E70C-ED53-0FAF0EBF7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Управления памятью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2303D-2F37-658E-19BF-295CE38A0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C35717-2351-338E-7A1E-77DFD50CFB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57375"/>
            <a:ext cx="5664200" cy="463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316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B1E09-A502-F54B-9F55-DE3FB7F7B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B16BE-FEB7-5C2F-0938-E55795218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Управление ресурсами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F2CC4-2A7E-AFB0-B12F-E9E1C165D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FE3EE9-92FF-7D31-BBC8-0A2819933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67744"/>
            <a:ext cx="5537200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1098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3D5A3-97FC-4D5C-6F63-21E61A3C2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1B7D6-9E1A-1CCE-E08D-17EEAC245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Управление ресурсами: </a:t>
            </a:r>
            <a:r>
              <a:rPr lang="en-US" dirty="0"/>
              <a:t>RAII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F7B92-3288-1088-1434-A90E2D682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Resource Acquisition Is Initialization </a:t>
            </a:r>
            <a:r>
              <a:rPr lang="en-US" dirty="0"/>
              <a:t>– </a:t>
            </a:r>
            <a:r>
              <a:rPr lang="ru-RU" dirty="0"/>
              <a:t>это фундаментальная идиома </a:t>
            </a:r>
            <a:r>
              <a:rPr lang="en-US" dirty="0"/>
              <a:t>C++, </a:t>
            </a:r>
            <a:r>
              <a:rPr lang="ru-RU" dirty="0"/>
              <a:t>которая связывает владение ресурсом с временем жизни объекта.</a:t>
            </a:r>
            <a:r>
              <a:rPr lang="ru-RU" b="1" dirty="0"/>
              <a:t> </a:t>
            </a:r>
          </a:p>
          <a:p>
            <a:pPr marL="0" indent="0">
              <a:buNone/>
            </a:pPr>
            <a:r>
              <a:rPr lang="ru-RU" dirty="0"/>
              <a:t>Обретение ресурса должно происходить в конструкторе, а освобождение – в деструкторе.</a:t>
            </a:r>
          </a:p>
          <a:p>
            <a:pPr marL="0" indent="0">
              <a:buNone/>
            </a:pPr>
            <a:r>
              <a:rPr lang="ru-RU" dirty="0"/>
              <a:t>Следование идиоме </a:t>
            </a:r>
            <a:r>
              <a:rPr lang="en-US" dirty="0"/>
              <a:t>RAII </a:t>
            </a:r>
            <a:r>
              <a:rPr lang="ru-RU" dirty="0"/>
              <a:t>гарантирует освобождение ресурсов при: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выходе из области видимости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возврате из функции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исключении</a:t>
            </a:r>
          </a:p>
        </p:txBody>
      </p:sp>
    </p:spTree>
    <p:extLst>
      <p:ext uri="{BB962C8B-B14F-4D97-AF65-F5344CB8AC3E}">
        <p14:creationId xmlns:p14="http://schemas.microsoft.com/office/powerpoint/2010/main" val="17828548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53607-64A4-79D6-FDED-D733D22B6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24D55-CEE5-917F-7425-A3615C045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Управление ресурсами: </a:t>
            </a:r>
            <a:r>
              <a:rPr lang="en-US" dirty="0"/>
              <a:t>RAII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F1702-C729-D4A0-560A-98B914CE9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0FD6D1-FA66-4639-931E-7E3E36532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10644"/>
            <a:ext cx="7048500" cy="278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227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769D9-375B-55F1-87B0-D8751F539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F624D-8671-36D3-9B86-22A6A69DE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Управление ресурсами: </a:t>
            </a:r>
            <a:r>
              <a:rPr lang="en-US" dirty="0"/>
              <a:t>RAII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5E482-A4F0-3173-E8ED-8550B00A51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11AFE5-DD5C-D106-6FBD-CF0177CFB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67844"/>
            <a:ext cx="6934200" cy="186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5909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2C158-7C44-D1F0-73C0-3025B0E87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880C7-B3F8-62D8-F567-53B7C429C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Управление ресурсами: умные указатели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52936-B87C-D87B-97CA-711426A22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std::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unique_ptr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&lt;int&gt; p = std::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make_unique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&lt;int&gt;(42);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dirty="0">
                <a:cs typeface="Consolas" panose="020B0609020204030204" pitchFamily="49" charset="0"/>
              </a:rPr>
              <a:t>Свойства:</a:t>
            </a:r>
          </a:p>
          <a:p>
            <a:r>
              <a:rPr lang="ru-RU" dirty="0">
                <a:cs typeface="Consolas" panose="020B0609020204030204" pitchFamily="49" charset="0"/>
              </a:rPr>
              <a:t>нельзя копировать</a:t>
            </a:r>
          </a:p>
          <a:p>
            <a:r>
              <a:rPr lang="ru-RU" dirty="0">
                <a:cs typeface="Consolas" panose="020B0609020204030204" pitchFamily="49" charset="0"/>
              </a:rPr>
              <a:t>можно перемещать</a:t>
            </a:r>
          </a:p>
          <a:p>
            <a:r>
              <a:rPr lang="ru-RU" dirty="0">
                <a:cs typeface="Consolas" panose="020B0609020204030204" pitchFamily="49" charset="0"/>
              </a:rPr>
              <a:t>минимальные накладные</a:t>
            </a:r>
          </a:p>
          <a:p>
            <a:pPr marL="0" indent="0">
              <a:buNone/>
            </a:pPr>
            <a:endParaRPr lang="en-US" dirty="0">
              <a:cs typeface="Consolas" panose="020B06090202040302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8D437F-9C9A-039B-3365-FCB6B7E29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379076"/>
            <a:ext cx="4546600" cy="96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8201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BF026-9CC1-6005-652B-DC739722D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AD1E2-87E0-06D8-C1DF-09E8615D5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Управление ресурсами: умные указатели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B1E98-6BC9-812D-6A91-E3E546B50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std::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shared_ptr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&lt;int&gt; p = std::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make_shared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&lt;int&gt;(10);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dirty="0">
                <a:cs typeface="Consolas" panose="020B0609020204030204" pitchFamily="49" charset="0"/>
              </a:rPr>
              <a:t>Свойства:</a:t>
            </a:r>
          </a:p>
          <a:p>
            <a:r>
              <a:rPr lang="ru-RU" dirty="0">
                <a:cs typeface="Consolas" panose="020B0609020204030204" pitchFamily="49" charset="0"/>
              </a:rPr>
              <a:t>можно копировать</a:t>
            </a:r>
          </a:p>
          <a:p>
            <a:r>
              <a:rPr lang="ru-RU" dirty="0">
                <a:cs typeface="Consolas" panose="020B0609020204030204" pitchFamily="49" charset="0"/>
              </a:rPr>
              <a:t>можно перемещать</a:t>
            </a:r>
          </a:p>
          <a:p>
            <a:r>
              <a:rPr lang="ru-RU" dirty="0">
                <a:cs typeface="Consolas" panose="020B0609020204030204" pitchFamily="49" charset="0"/>
              </a:rPr>
              <a:t>хранит счетчик ссылок</a:t>
            </a:r>
            <a:endParaRPr lang="en-US" dirty="0"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90636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116CD-BF42-6766-8AB7-F0F26DF63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31F12-320F-A190-14A5-B028DE60D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Управление ресурсами: умные указатели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D9144-7F16-DC37-4572-1C60478BE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std::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weak_ptr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&lt;int&gt; p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some_shared_ptr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std::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shared_ptr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&lt;int&gt;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p.lock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Свойства:</a:t>
            </a:r>
            <a:endParaRPr lang="en-US" dirty="0"/>
          </a:p>
          <a:p>
            <a:r>
              <a:rPr lang="ru-RU" dirty="0"/>
              <a:t>можно копировать</a:t>
            </a:r>
          </a:p>
          <a:p>
            <a:r>
              <a:rPr lang="ru-RU" dirty="0"/>
              <a:t>можно перемещать</a:t>
            </a:r>
          </a:p>
          <a:p>
            <a:r>
              <a:rPr lang="ru-RU" dirty="0"/>
              <a:t>не увеличивает счетчик ссылок</a:t>
            </a:r>
            <a:endParaRPr lang="en-US" dirty="0"/>
          </a:p>
          <a:p>
            <a:r>
              <a:rPr lang="ru-RU" dirty="0"/>
              <a:t>может вернуть пустой указатель</a:t>
            </a:r>
          </a:p>
        </p:txBody>
      </p:sp>
    </p:spTree>
    <p:extLst>
      <p:ext uri="{BB962C8B-B14F-4D97-AF65-F5344CB8AC3E}">
        <p14:creationId xmlns:p14="http://schemas.microsoft.com/office/powerpoint/2010/main" val="17276180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989D8-E07E-0EF0-5322-915DC9A3B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F7929CE-E7ED-FABA-1148-A71DFEC97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C9125B53-6CBE-1E8F-E93B-4F1301236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12244"/>
            <a:ext cx="9499600" cy="257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2211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5DFA1-311D-55C8-2434-FEC1A7EDD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4DB69-22CA-A897-A82B-06909B7B5C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96E0E5-FBFD-18C9-5769-65FFBB6A1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45494"/>
            <a:ext cx="3797300" cy="391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3437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2DE04-4C40-1330-549B-0FC2D9ED3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E682B-DB0E-8680-4E86-30D75449D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9A7F38-9A37-41D8-DBB6-022E9249C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69344"/>
            <a:ext cx="3568700" cy="326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144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EB78F-F515-E9E7-6E38-F8CB52099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1AF4C-C1BA-76E7-6E13-D73E7382C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override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0892F-0E06-EA22-B741-86DDEAFA1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5D860B-E875-9AC0-9045-DE49DE590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04294"/>
            <a:ext cx="3632200" cy="279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0907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509E9-EE06-88E0-9427-1641AFE84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3ED40-A39A-650B-9AAF-3DCE27400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 &amp; delete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51134-9EA3-7426-88A6-AD4D2BFE08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3F628F-480B-3937-50DA-50C56AD3E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32894"/>
            <a:ext cx="6273800" cy="233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2516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B3082-A10B-CB41-C596-BD6B2F0D3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C3B0B-9260-58F0-DD0E-D82C0767C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24065-600C-C385-C3A4-915920891F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8A89CD-3357-D631-D8F7-6E2B84354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89032"/>
            <a:ext cx="7772400" cy="1424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6669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6F0C2-74FF-A384-9A17-31A5B9CC2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E6B54-06FB-7433-8FAF-2E566DBD1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range-for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90690-0630-A0C6-8128-60B0ACCAF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89E785-8BB3-5FEE-54AA-53A3F1CD2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57926"/>
            <a:ext cx="7772400" cy="2286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267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54677-561E-EEFC-68D3-E12CB3994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DA8D8-3C4C-655B-77A2-35FA178A0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constexpr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1B239-984E-4B0E-3042-5B35D1206D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A7D4BA-1DE2-DF73-0205-7E8DB097D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16994"/>
            <a:ext cx="4927600" cy="276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4690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A2DC4-E640-4A6B-25F0-287CAFFCE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CCACF-67EE-970F-D6B2-A0D082704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constexpr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B3994-EAB4-E089-474E-76080B0A0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08F947-11C6-9B5D-2EF0-2538C4AE7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14660"/>
            <a:ext cx="7772400" cy="429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2563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EA9DE-BFFB-AFCA-4085-21341F299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45849-7571-B825-5385-2F89B1827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noexcept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631A3-AAFE-06D3-50BD-AE0BBBEF3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459542-DC0A-D6FD-30E3-DEA062083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24944"/>
            <a:ext cx="5486400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452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E2E5B-0C5B-1E3E-DC59-9819A1E2B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BBA32-3A03-86F4-2E81-501A2A1AF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static_assert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3EB71-E9DF-93C8-C16A-2C6E75823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B621DC-1818-7FF5-65A0-8ABA0CAC4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17700"/>
            <a:ext cx="7200900" cy="439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245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B02BA-1C48-F62D-84BF-9B547C401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17704-7EBB-947D-4411-7FADF2100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static_assert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37DDE-089A-C8E9-484E-0E1722DF3B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DA9DF8-8812-C063-585A-689044B0F8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59794"/>
            <a:ext cx="6007100" cy="368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1106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D9255-3F58-2E00-2F4F-85E49A913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91E53-42C7-2978-AEF7-9EE485C9A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enum</a:t>
            </a:r>
            <a:r>
              <a:rPr lang="en-US" dirty="0"/>
              <a:t>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6A238-287E-09CA-391D-B3785A974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6E41D4-B863-E817-877C-42CCFA9D8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95475"/>
            <a:ext cx="3886200" cy="459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11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F6172-ABCE-1E6B-1E4C-15EF3135D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A9E0F-77CD-0540-F4BA-FC0AD1294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enum</a:t>
            </a:r>
            <a:r>
              <a:rPr lang="en-US" dirty="0"/>
              <a:t>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14CC8-1D53-5CA6-22BB-7E005F867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F7F887-AC8B-5DDD-7722-CFB6A95AF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95475"/>
            <a:ext cx="4102100" cy="459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018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B00B4-2511-9189-6AAD-46685A46B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67A80-EA02-3971-ACB3-895B5C84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nullptr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80522-925A-F2D2-AF2B-C808325FFC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96C7F7-5AF0-77CC-D6C9-593DABA7D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3467100" cy="210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6949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37575-FEE3-CBBB-1E1F-7EC84A72D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4CED5-D398-CEE4-72D4-F3863E6A6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nullptr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30E94-8E82-166D-5EA3-F51C18BBF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D57420-F78A-091B-FD06-A47AAB0B15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34671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7823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7DDAB-4B09-47B5-8577-CF44E9C6F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AF452-1F06-3A28-9614-1363BA9B1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{}-</a:t>
            </a:r>
            <a:r>
              <a:rPr lang="ru-RU" dirty="0"/>
              <a:t>инициализация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17F7B-F5FD-D452-8B8D-936FD11588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984BB9-15A6-FAA8-4930-B9CFF7538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10544"/>
            <a:ext cx="59436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0706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C887A-6663-DA57-8ABD-EC1879340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CFFD8-1E8D-5BB2-CDBC-FC61427A9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{}-</a:t>
            </a:r>
            <a:r>
              <a:rPr lang="ru-RU" dirty="0"/>
              <a:t>инициализация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4DE17-418D-905F-DA2E-DB0809A98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Если тип аргумента в фигурных скобках отличается от типа,</a:t>
            </a:r>
            <a:r>
              <a:rPr lang="en-US" dirty="0"/>
              <a:t> </a:t>
            </a:r>
            <a:r>
              <a:rPr lang="ru-RU" dirty="0"/>
              <a:t>ожидаемого конструктором (т.е. если требуется преобразование типов)</a:t>
            </a:r>
          </a:p>
          <a:p>
            <a:pPr marL="0" indent="0">
              <a:buNone/>
            </a:pPr>
            <a:r>
              <a:rPr lang="ru-RU" b="1" dirty="0"/>
              <a:t>Запрещены</a:t>
            </a:r>
            <a:r>
              <a:rPr lang="ru-RU" dirty="0"/>
              <a:t> неявные преобразования: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число с плавающей точкой к целочисленному типу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long double → double → float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из целого (или </a:t>
            </a:r>
            <a:r>
              <a:rPr lang="en-US" dirty="0" err="1"/>
              <a:t>enum</a:t>
            </a:r>
            <a:r>
              <a:rPr lang="en-US" dirty="0"/>
              <a:t>) </a:t>
            </a:r>
            <a:r>
              <a:rPr lang="ru-RU" dirty="0"/>
              <a:t>к числу с плавающей точкой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long long → long → int → short → char</a:t>
            </a:r>
            <a:br>
              <a:rPr lang="en-US" dirty="0"/>
            </a:br>
            <a:r>
              <a:rPr lang="en-US" dirty="0"/>
              <a:t>(</a:t>
            </a:r>
            <a:r>
              <a:rPr lang="ru-RU" dirty="0"/>
              <a:t>целые или </a:t>
            </a:r>
            <a:r>
              <a:rPr lang="en-US" dirty="0" err="1"/>
              <a:t>enum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ru-RU" dirty="0"/>
              <a:t>Исключение: константа умещается в “суженный” тип</a:t>
            </a:r>
          </a:p>
        </p:txBody>
      </p:sp>
    </p:spTree>
    <p:extLst>
      <p:ext uri="{BB962C8B-B14F-4D97-AF65-F5344CB8AC3E}">
        <p14:creationId xmlns:p14="http://schemas.microsoft.com/office/powerpoint/2010/main" val="1829702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1B689-3F2D-1A10-D705-895F122F2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2DF23-7638-30EC-1593-2FC3DB59B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{}-</a:t>
            </a:r>
            <a:r>
              <a:rPr lang="ru-RU" dirty="0"/>
              <a:t>инициализация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4C013-E199-76BB-32AA-D4185BAF2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69FC0E-01FB-E0C8-6650-A09FE860A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75694"/>
            <a:ext cx="3797300" cy="325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4860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38C60-2F17-D390-CC97-112A057FA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217A0-9554-CE4B-A1FC-D8ED1E311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{}-</a:t>
            </a:r>
            <a:r>
              <a:rPr lang="ru-RU" dirty="0"/>
              <a:t>инициализация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966C8-CC38-5427-9E2C-F33D9825F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48F8A0-98A1-B6C8-0070-576008892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75694"/>
            <a:ext cx="5207000" cy="325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8914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3152A-F045-E919-5BD9-606279F0F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E3F6B-7222-F43C-7A0B-52CAB7DEA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initializer_list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2DB44-2642-786B-40BF-87E6B015C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05E77B-A181-FBFB-C19D-0BB5725A0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5715000" cy="483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0003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75750-7534-40AC-0271-890780A19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02D34-3846-74E9-71B3-803B7F027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initializer_list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50E12-9BC3-C1F2-3FDF-A89212C50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CF216D-0E67-AFE4-EAE4-EBF337CE48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35959"/>
            <a:ext cx="2921000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76275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712E1-A771-A00D-E96A-563EBAA12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D2964-04D3-D0EB-AF46-0495E6029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initializer_list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9D3D1-DFA8-3832-EF6A-2E34D0706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535246-D2AD-3E03-1A4B-A6BD50C32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32894"/>
            <a:ext cx="5092700" cy="233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956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536B3-3CE0-67F2-4716-C2F817CCD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6C898-EB32-EB4A-6E75-762C7734B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Порядок инициализации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5EB7F-2C59-E491-1ED1-8D3EBF5F0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6F1D5B-6492-122D-F578-E4D4E4476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87833"/>
            <a:ext cx="7772400" cy="342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41092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AA47F-5986-971D-9D49-B8084F823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05E1B-212B-590D-E11E-FAE2AE372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Порядок инициализации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21A88-998B-8F36-B7EB-D80B4C28E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5A3EBD-3D0B-2BCC-EF9B-862CCF423F94}"/>
              </a:ext>
            </a:extLst>
          </p:cNvPr>
          <p:cNvSpPr txBox="1"/>
          <p:nvPr/>
        </p:nvSpPr>
        <p:spPr>
          <a:xfrm>
            <a:off x="1366344" y="5810624"/>
            <a:ext cx="3825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Вывод: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1 2 4 3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322D4C-30D3-7224-A818-CFA20CE3F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87833"/>
            <a:ext cx="7772400" cy="342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42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11035</TotalTime>
  <Words>893</Words>
  <Application>Microsoft Macintosh PowerPoint</Application>
  <PresentationFormat>Widescreen</PresentationFormat>
  <Paragraphs>162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5" baseType="lpstr">
      <vt:lpstr>Arial</vt:lpstr>
      <vt:lpstr>Calibri</vt:lpstr>
      <vt:lpstr>Calibri Light</vt:lpstr>
      <vt:lpstr>Consolas</vt:lpstr>
      <vt:lpstr>System Font Regular</vt:lpstr>
      <vt:lpstr>Office Theme</vt:lpstr>
      <vt:lpstr>Проектирование больших систем на С++</vt:lpstr>
      <vt:lpstr>Управление памятью</vt:lpstr>
      <vt:lpstr>Управление памятью</vt:lpstr>
      <vt:lpstr>Управление памятью</vt:lpstr>
      <vt:lpstr>Управление памятью</vt:lpstr>
      <vt:lpstr>Управление памятью</vt:lpstr>
      <vt:lpstr>Управления памятью</vt:lpstr>
      <vt:lpstr>Управления памятью</vt:lpstr>
      <vt:lpstr>Управления памятью</vt:lpstr>
      <vt:lpstr>Управления памятью</vt:lpstr>
      <vt:lpstr>Управления памятью</vt:lpstr>
      <vt:lpstr>Управления памятью</vt:lpstr>
      <vt:lpstr>Управления памятью</vt:lpstr>
      <vt:lpstr>Управления памятью</vt:lpstr>
      <vt:lpstr>Управления памятью</vt:lpstr>
      <vt:lpstr>Управления памятью</vt:lpstr>
      <vt:lpstr>Управления памятью</vt:lpstr>
      <vt:lpstr>Управление ресурсами</vt:lpstr>
      <vt:lpstr>Управление ресурсами: RAII</vt:lpstr>
      <vt:lpstr>Управление ресурсами: RAII</vt:lpstr>
      <vt:lpstr>Управление ресурсами: RAII</vt:lpstr>
      <vt:lpstr>Управление ресурсами: умные указатели</vt:lpstr>
      <vt:lpstr>Управление ресурсами: умные указатели</vt:lpstr>
      <vt:lpstr>Управление ресурсами: умные указатели</vt:lpstr>
      <vt:lpstr>using</vt:lpstr>
      <vt:lpstr>using</vt:lpstr>
      <vt:lpstr>final</vt:lpstr>
      <vt:lpstr>override</vt:lpstr>
      <vt:lpstr>default &amp; delete</vt:lpstr>
      <vt:lpstr>auto</vt:lpstr>
      <vt:lpstr>range-for</vt:lpstr>
      <vt:lpstr>constexpr</vt:lpstr>
      <vt:lpstr>constexpr</vt:lpstr>
      <vt:lpstr>noexcept</vt:lpstr>
      <vt:lpstr>static_assert</vt:lpstr>
      <vt:lpstr>static_assert</vt:lpstr>
      <vt:lpstr>enum class</vt:lpstr>
      <vt:lpstr>enum class</vt:lpstr>
      <vt:lpstr>nullptr</vt:lpstr>
      <vt:lpstr>nullptr</vt:lpstr>
      <vt:lpstr>{}-инициализация</vt:lpstr>
      <vt:lpstr>{}-инициализация</vt:lpstr>
      <vt:lpstr>{}-инициализация</vt:lpstr>
      <vt:lpstr>{}-инициализация</vt:lpstr>
      <vt:lpstr>initializer_list</vt:lpstr>
      <vt:lpstr>initializer_list</vt:lpstr>
      <vt:lpstr>initializer_list</vt:lpstr>
      <vt:lpstr>Порядок инициализации</vt:lpstr>
      <vt:lpstr>Порядок инициализации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79</cp:revision>
  <dcterms:created xsi:type="dcterms:W3CDTF">2026-01-06T17:52:33Z</dcterms:created>
  <dcterms:modified xsi:type="dcterms:W3CDTF">2026-01-14T09:51:24Z</dcterms:modified>
</cp:coreProperties>
</file>