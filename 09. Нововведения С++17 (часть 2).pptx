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88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83"/>
  </p:normalViewPr>
  <p:slideViewPr>
    <p:cSldViewPr snapToGrid="0">
      <p:cViewPr varScale="1">
        <p:scale>
          <a:sx n="147" d="100"/>
          <a:sy n="14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91-D6C0-85DA-7FF1-E964443A7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FDD0B-E81F-40D8-6D63-C6755B453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7BE66-335D-C929-F751-20A2EE9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9A863-E718-E206-8263-C330D995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DD838-5671-0667-C621-8C2BAD69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78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C961-E291-B719-52B3-D2A08C7E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738EB-74D2-030B-7355-2417A60A8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E43D2-61E1-7D05-C293-CC9FF8E0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BC369-08D1-F164-80E1-43000877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730B-7BD2-F45F-C39B-A00B1C78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8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EE28-4FC1-6750-79CD-5DAA2F16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8DCDF-C3A3-C3E3-AC79-D20D5A2F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7A5FF-6D0B-9A18-1215-91181719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A45E3-59BE-BF5D-8C38-C624B76C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3ACA1-D255-6417-87C1-4694523E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2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6427-2B1B-F19D-3085-F8623D18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C9F9B-4E86-0996-6138-CA4365AC1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BEDE3-8EF5-85EA-C5AC-AA5DEFF0A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BD411-4391-3CA7-F339-4CEFC120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B3B6E-F950-FE68-93C8-D0FC11A6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EB000-77F6-1C30-15B0-B0E0BF41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7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B6CE8-F6C9-BBE4-F759-8FEF1D84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A6F05-28B4-7F5D-F14D-B95A5926A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4772B-BEA8-4F21-156D-FBA1CACBB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1ED25-FEBA-A573-73BD-B3E7B9454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2439B-38D8-1D9E-ED8E-1B33AC90B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110ED-D00D-2D99-DA38-CE5390F2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E38A0E-B5A5-E4B8-AB3C-F95C5E69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F74D9-9AF0-01F7-D4FA-144F6204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6563-5D34-0026-EE19-3080F80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F13E8-109D-CC8F-8812-35795E08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B16D6-8721-3798-BA1C-9D1F6425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1B502-853E-D80E-2806-D600A546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3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3E993-4F59-F470-23E6-C294C318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DFD07-AA87-4C2D-82C6-9951B636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B0BF-6F68-E05C-4124-DD0A9488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0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5CDF-82CB-2B9F-8CDC-AC01E3C5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8E8C-26BC-03F5-E946-690C516E2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02AAF-A1AD-8A05-9942-970F5D855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93AA3-B41B-81B8-65F3-1718145B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341D-77ED-A948-EE96-696FC731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563A8-9873-8EED-D4F9-80C8490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17C2-EF74-8821-4D96-A9C686058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D20EA-E472-9D6A-7549-CF4F3FCD2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4B9E0-6A88-A209-0604-588FA5826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2F24-AC3B-5827-6DC6-B0ED8DF4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0F392-C497-9C4F-0CE7-E2E09035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8F90E-8443-6985-C074-64404799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5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B720-7135-728C-69AA-AB9AE4F7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8FA26-9F64-8155-46F1-81636690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7D2E3-98C4-BA20-A68D-DC754583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DC526-8A42-BB40-A2D4-E2B13B05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586F-3795-4497-CE7B-B26289C5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127865-C27A-88C7-072E-C004429FD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EE515-2684-F41C-80C3-00D712588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3EFC-4497-5889-EFB9-E0FE4779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A0091-399A-6646-5E73-2761120C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9D71-8EDA-4621-33D2-C04E852D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779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1938E-9B33-CD91-B901-7E195EFD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4ABD5-0913-629B-211C-ACBAF0BD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F50DA-9A64-614E-EE5E-A0B14252B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74D7A-A41E-8143-ADFD-A3E5116F6876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B6951-3D0F-2901-36C9-6B01BEDB3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9BA4-549C-5035-E936-BE28E020C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D477D-0558-674F-80F6-ED285BD52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46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3A8C-596B-3A28-2233-E0B3B290D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700A1-1B16-EA04-9C99-88F7C2D8DD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</a:t>
            </a:r>
            <a:r>
              <a:rPr lang="en-US" dirty="0"/>
              <a:t>7</a:t>
            </a:r>
          </a:p>
          <a:p>
            <a:r>
              <a:rPr lang="ru-RU" dirty="0"/>
              <a:t>часть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48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2BAC-D466-C86E-5FC5-EB11D0ACA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Убраны из стандарта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FDD9-F72C-1563-6DCA-7A5586D44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en-US" b="1" dirty="0"/>
              <a:t>register</a:t>
            </a:r>
            <a:r>
              <a:rPr lang="en-US" dirty="0"/>
              <a:t> – </a:t>
            </a:r>
            <a:r>
              <a:rPr lang="ru-RU" dirty="0"/>
              <a:t>слово осталось, но ничего не значит</a:t>
            </a:r>
          </a:p>
          <a:p>
            <a:r>
              <a:rPr lang="ru-RU" dirty="0"/>
              <a:t>постфиксный и префиксный инкремент </a:t>
            </a:r>
            <a:r>
              <a:rPr lang="en-US" b="1" dirty="0"/>
              <a:t>++bool </a:t>
            </a:r>
            <a:r>
              <a:rPr lang="ru-RU" dirty="0"/>
              <a:t>и </a:t>
            </a:r>
            <a:r>
              <a:rPr lang="en-US" b="1" dirty="0"/>
              <a:t>bool++</a:t>
            </a:r>
            <a:endParaRPr lang="ru-RU" b="1" dirty="0"/>
          </a:p>
          <a:p>
            <a:r>
              <a:rPr lang="ru-RU" dirty="0"/>
              <a:t>спецификация бросаемых исключений </a:t>
            </a:r>
            <a:r>
              <a:rPr lang="en-US" b="1" dirty="0"/>
              <a:t>throw(A, B, C) </a:t>
            </a:r>
            <a:r>
              <a:rPr lang="en-US" dirty="0"/>
              <a:t>– throw() </a:t>
            </a:r>
            <a:r>
              <a:rPr lang="ru-RU" dirty="0"/>
              <a:t>осталась, но является синонимом </a:t>
            </a:r>
            <a:r>
              <a:rPr lang="en-US" b="1" dirty="0" err="1"/>
              <a:t>noexcept</a:t>
            </a:r>
            <a:r>
              <a:rPr lang="en-US" b="1" dirty="0"/>
              <a:t>(true)</a:t>
            </a:r>
          </a:p>
          <a:p>
            <a:r>
              <a:rPr lang="en-US" b="1" dirty="0" err="1"/>
              <a:t>auto_ptr</a:t>
            </a:r>
            <a:r>
              <a:rPr lang="en-US" dirty="0"/>
              <a:t>, </a:t>
            </a:r>
            <a:r>
              <a:rPr lang="en-US" b="1" dirty="0" err="1"/>
              <a:t>random_shuffle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заменены на </a:t>
            </a:r>
            <a:r>
              <a:rPr lang="en-US" b="1" dirty="0" err="1"/>
              <a:t>unique_ptr</a:t>
            </a:r>
            <a:r>
              <a:rPr lang="en-US" dirty="0"/>
              <a:t>, </a:t>
            </a:r>
            <a:r>
              <a:rPr lang="en-US" b="1" dirty="0"/>
              <a:t>shuffle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82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3D82-D580-8E88-C246-B67B03AB5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F36A-1E8C-D7C7-80A7-9A3D7915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Помечены как устаревающие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70E2-00E1-22D1-1E9D-76EADEA43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&lt;</a:t>
            </a:r>
            <a:r>
              <a:rPr lang="en-US" b="1" dirty="0" err="1"/>
              <a:t>ccomplex</a:t>
            </a:r>
            <a:r>
              <a:rPr lang="en-US" dirty="0"/>
              <a:t>&gt;, &lt;</a:t>
            </a:r>
            <a:r>
              <a:rPr lang="en-US" b="1" dirty="0" err="1"/>
              <a:t>cstdalign</a:t>
            </a:r>
            <a:r>
              <a:rPr lang="en-US" dirty="0"/>
              <a:t>&gt;, &lt;</a:t>
            </a:r>
            <a:r>
              <a:rPr lang="en-US" b="1" dirty="0" err="1"/>
              <a:t>cstdbool</a:t>
            </a:r>
            <a:r>
              <a:rPr lang="en-US" dirty="0"/>
              <a:t>&gt;, &lt;</a:t>
            </a:r>
            <a:r>
              <a:rPr lang="en-US" b="1" dirty="0" err="1"/>
              <a:t>ctgmath</a:t>
            </a:r>
            <a:r>
              <a:rPr lang="en-US" dirty="0"/>
              <a:t>&gt;</a:t>
            </a:r>
            <a:endParaRPr lang="ru-RU" dirty="0"/>
          </a:p>
          <a:p>
            <a:r>
              <a:rPr lang="en-US" b="1" dirty="0"/>
              <a:t>std::allocator&lt;void&gt; </a:t>
            </a:r>
            <a:r>
              <a:rPr lang="en-US" dirty="0"/>
              <a:t>—</a:t>
            </a:r>
            <a:r>
              <a:rPr lang="ru-RU" dirty="0"/>
              <a:t>невостребован</a:t>
            </a:r>
          </a:p>
          <a:p>
            <a:r>
              <a:rPr lang="ru-RU" dirty="0"/>
              <a:t>часть функций </a:t>
            </a:r>
            <a:r>
              <a:rPr lang="en-US" b="1" dirty="0"/>
              <a:t>std::allocator</a:t>
            </a:r>
            <a:r>
              <a:rPr lang="en-US" dirty="0"/>
              <a:t>— </a:t>
            </a:r>
            <a:r>
              <a:rPr lang="ru-RU" dirty="0"/>
              <a:t>дублируются в </a:t>
            </a:r>
            <a:r>
              <a:rPr lang="en-US" b="1" dirty="0"/>
              <a:t>std::</a:t>
            </a:r>
            <a:r>
              <a:rPr lang="en-US" b="1" dirty="0" err="1"/>
              <a:t>allocator_traits</a:t>
            </a:r>
            <a:endParaRPr lang="ru-RU" b="1" dirty="0"/>
          </a:p>
          <a:p>
            <a:r>
              <a:rPr lang="en-US" b="1" dirty="0"/>
              <a:t>std::iterator</a:t>
            </a:r>
            <a:r>
              <a:rPr lang="en-US" dirty="0"/>
              <a:t>— </a:t>
            </a:r>
            <a:r>
              <a:rPr lang="ru-RU" dirty="0"/>
              <a:t>проще писать итераторы с нуля, чем основываться на нём</a:t>
            </a:r>
          </a:p>
          <a:p>
            <a:r>
              <a:rPr lang="ru-RU" dirty="0"/>
              <a:t>заголовок</a:t>
            </a:r>
            <a:r>
              <a:rPr lang="en-US" dirty="0"/>
              <a:t> &lt;</a:t>
            </a:r>
            <a:r>
              <a:rPr lang="en-US" b="1" dirty="0" err="1"/>
              <a:t>codecvt</a:t>
            </a:r>
            <a:r>
              <a:rPr lang="en-US" dirty="0"/>
              <a:t>&gt;— </a:t>
            </a:r>
            <a:r>
              <a:rPr lang="ru-RU" dirty="0"/>
              <a:t>на поверку работал очень плохо, комитет призвал пользоваться специализированными библиотеками</a:t>
            </a:r>
          </a:p>
          <a:p>
            <a:r>
              <a:rPr lang="en-US" b="1" dirty="0"/>
              <a:t>std::</a:t>
            </a:r>
            <a:r>
              <a:rPr lang="en-US" b="1" dirty="0" err="1"/>
              <a:t>shared_ptr</a:t>
            </a:r>
            <a:r>
              <a:rPr lang="en-US" b="1" dirty="0"/>
              <a:t>::unique() </a:t>
            </a:r>
            <a:r>
              <a:rPr lang="en-US" dirty="0"/>
              <a:t>— </a:t>
            </a:r>
            <a:r>
              <a:rPr lang="ru-RU" dirty="0"/>
              <a:t>из-за ненадёжности в многопоточной среде</a:t>
            </a:r>
          </a:p>
          <a:p>
            <a:r>
              <a:rPr lang="en-US" b="1" dirty="0" err="1"/>
              <a:t>memory_order_consume</a:t>
            </a:r>
            <a:r>
              <a:rPr lang="ru-RU" b="1" dirty="0"/>
              <a:t> </a:t>
            </a:r>
            <a:r>
              <a:rPr lang="ru-RU" dirty="0"/>
              <a:t>– временно, семантика была ошибочна, лучше использовать </a:t>
            </a:r>
            <a:r>
              <a:rPr lang="en-US" b="1" dirty="0" err="1"/>
              <a:t>memory_order_acquire</a:t>
            </a:r>
            <a:r>
              <a:rPr lang="en-US" b="1" dirty="0"/>
              <a:t> </a:t>
            </a:r>
            <a:r>
              <a:rPr lang="ru-RU" dirty="0"/>
              <a:t>пока не вернут</a:t>
            </a:r>
          </a:p>
          <a:p>
            <a:r>
              <a:rPr lang="en-US" b="1" dirty="0" err="1"/>
              <a:t>result_of</a:t>
            </a:r>
            <a:r>
              <a:rPr lang="ru-RU" dirty="0"/>
              <a:t> – лучше использовать </a:t>
            </a:r>
            <a:r>
              <a:rPr lang="en-US" b="1" dirty="0" err="1"/>
              <a:t>invoke_result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0663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ABD30-087B-47C3-613F-667608F2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D700-7001-8BAF-0314-90C0CF406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noexcept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B0A3-679E-8321-9F34-0EA2F84E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Спецификация исключений стала частью сигнатуры функций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теперь это две разные функции: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f()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noexcept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(true);</a:t>
            </a:r>
            <a:endParaRPr lang="ru-RU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void f()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noexcept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(false);</a:t>
            </a:r>
            <a:endParaRPr lang="ru-RU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82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F4227-AAE7-9AF6-306D-84BF2D6D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AA69-3CA2-63B1-1257-7E6601BD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с нетиповыми параметрами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A73D-9E3A-3F17-4B8D-90C1E8642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B28DD-E792-506D-F934-BEA4FFD56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1595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4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2BC4-53FE-5F12-7D6D-59A3DB0B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572D-00BB-BB9B-3E29-135C3D40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аргументов шаблонов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ECE50-F39F-BA5A-5B4E-53BDB2AC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6B9645-F1CE-04B2-E65B-9EC3D2DFC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4389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2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7D9F-595D-4A91-FA8D-94C489292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7B93-F880-B172-1899-1AB9182C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аргументов шаблонов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A79B6-6277-AC7F-B491-9E82B1AA8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331D-6A97-D78A-043B-CAD1E1251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6675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0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D3BC5-6129-07BA-DB03-1B8ECA5F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571DD-C637-A308-D7C7-3F7964E0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Вложенные пространства имен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D208-1011-C3C2-12FE-3C409FB3D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7CFBC-AA5C-2140-0F6C-B45EC997F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2794"/>
            <a:ext cx="43053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1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1403-9ED9-B1D2-BEB1-9B6B942B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7A95-07A9-7C05-07A3-FA5732964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alignas</a:t>
            </a:r>
            <a:r>
              <a:rPr lang="en-US" dirty="0"/>
              <a:t> </a:t>
            </a:r>
            <a:r>
              <a:rPr lang="ru-RU" dirty="0"/>
              <a:t>для объектов в куче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E6472-C318-6800-56BE-5B116F363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257B4-9A0F-DCD0-4D09-A728839E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5044"/>
            <a:ext cx="76835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5AE4-5623-27C9-7DD8-AB9F433F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00136-00F8-E12C-E007-1762B115E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наличия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92A03-981A-A7C2-3766-5630527AD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B46A1-7DD7-C397-A2A9-B29F99A8B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9244"/>
            <a:ext cx="47625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5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DA48-8FBD-CAF4-CA52-C156C83D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BD0A-2A99-1365-E4B3-6C6A866F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Захват *</a:t>
            </a:r>
            <a:r>
              <a:rPr lang="en-US" dirty="0"/>
              <a:t>this </a:t>
            </a:r>
            <a:r>
              <a:rPr lang="ru-RU" dirty="0"/>
              <a:t>в </a:t>
            </a:r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C3ACE-58FF-3680-6C6C-17DA8FC7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EA3B5-D69F-B36E-12A0-F827C7D50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844"/>
            <a:ext cx="53086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0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98515-E665-27FF-0A60-670D9898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8CE2-77AD-2F04-1ABD-589DEB33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Захват *</a:t>
            </a:r>
            <a:r>
              <a:rPr lang="en-US" dirty="0"/>
              <a:t>this </a:t>
            </a:r>
            <a:r>
              <a:rPr lang="ru-RU" dirty="0"/>
              <a:t>в </a:t>
            </a:r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EF5C0-7BA2-5EDA-53DE-AF9D83A0E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CEEBA-AEF9-3FE5-6AB2-E457DF825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4844"/>
            <a:ext cx="59309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69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00B03-5C1B-4A9F-74EE-0ADB55A7E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EB2C-C643-B106-E12A-F55DBE3A6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</a:t>
            </a:r>
            <a:r>
              <a:rPr lang="en-US" dirty="0" err="1"/>
              <a:t>true_type</a:t>
            </a:r>
            <a:r>
              <a:rPr lang="en-US" dirty="0"/>
              <a:t> &amp; std::</a:t>
            </a:r>
            <a:r>
              <a:rPr lang="en-US" dirty="0" err="1"/>
              <a:t>false_type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01B34-FB92-B9B6-49D0-4A62FB251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1EECE-9937-1F50-BB0D-0FF0A44A0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0544"/>
            <a:ext cx="56896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27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670D5-1CF8-6F52-BCFB-E486E438E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C323-A50D-1A11-FDFA-C282AFEE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emplace_back</a:t>
            </a:r>
            <a:r>
              <a:rPr lang="en-US" dirty="0"/>
              <a:t> </a:t>
            </a:r>
            <a:r>
              <a:rPr lang="ru-RU" dirty="0"/>
              <a:t>возвращает ссылку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981A-7056-7F0B-C8BC-47623E43F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2BAC7-227E-2C88-D034-C4FF774F4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2244"/>
            <a:ext cx="4749800" cy="257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48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425CB-701F-A9CC-0063-26B9DF34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FC27-85A1-F09C-3DE2-ABA0EBD4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Какое значение имеет </a:t>
            </a:r>
            <a:r>
              <a:rPr lang="en-US" dirty="0" err="1"/>
              <a:t>i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F700-0680-5A38-AC50-879570B4F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2B7C96-5668-40EA-991E-4BD912E5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2994"/>
            <a:ext cx="19939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29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0C49-2826-0A15-F54F-F5DDCD22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636E-F999-63A6-734D-587DBD67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Какое значение имеет </a:t>
            </a:r>
            <a:r>
              <a:rPr lang="en-US" dirty="0" err="1"/>
              <a:t>i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95A7C-E588-54FA-A3AE-DF4FB6E8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7B23A9-5988-3882-FDE1-25AE18AE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2994"/>
            <a:ext cx="1993900" cy="7366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7E024C-055B-B913-7248-C8FC27BEE593}"/>
              </a:ext>
            </a:extLst>
          </p:cNvPr>
          <p:cNvCxnSpPr/>
          <p:nvPr/>
        </p:nvCxnSpPr>
        <p:spPr>
          <a:xfrm>
            <a:off x="924910" y="3632994"/>
            <a:ext cx="1907190" cy="8128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AA9899-AF11-7496-FC28-B30820D0F4BD}"/>
              </a:ext>
            </a:extLst>
          </p:cNvPr>
          <p:cNvCxnSpPr>
            <a:cxnSpLocks/>
          </p:cNvCxnSpPr>
          <p:nvPr/>
        </p:nvCxnSpPr>
        <p:spPr>
          <a:xfrm flipV="1">
            <a:off x="924910" y="3632994"/>
            <a:ext cx="1907190" cy="8128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415350-1A08-D9CA-63EB-C4802EA5EAAC}"/>
              </a:ext>
            </a:extLst>
          </p:cNvPr>
          <p:cNvSpPr txBox="1"/>
          <p:nvPr/>
        </p:nvSpPr>
        <p:spPr>
          <a:xfrm>
            <a:off x="4078014" y="3816628"/>
            <a:ext cx="2722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Undefined Behavior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DA9EA9-201A-2216-501E-8258ABA49BBA}"/>
              </a:ext>
            </a:extLst>
          </p:cNvPr>
          <p:cNvCxnSpPr>
            <a:stCxn id="10" idx="1"/>
            <a:endCxn id="7" idx="3"/>
          </p:cNvCxnSpPr>
          <p:nvPr/>
        </p:nvCxnSpPr>
        <p:spPr>
          <a:xfrm flipH="1">
            <a:off x="2832100" y="4001294"/>
            <a:ext cx="12459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846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47E2-A672-C2C2-BCCF-BE277DA9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9702-1DAA-4A68-8824-64E55E23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посложнее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1984-7EDE-739C-21B2-C1109B36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EF9F1-B314-48D7-02CE-0C923A747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0214"/>
            <a:ext cx="7772400" cy="378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2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BE2C-F2CD-1704-258F-B6775928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92F4-F1DD-3A5B-9972-A5737C00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вычислений в выражениях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A63D2-4C73-4021-B097-585A7C5D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b="1" dirty="0"/>
              <a:t>порядок исполнения подвыражений</a:t>
            </a:r>
            <a:r>
              <a:rPr lang="ru-RU" dirty="0"/>
              <a:t> в выражениях </a:t>
            </a:r>
            <a:r>
              <a:rPr lang="ru-RU" b="1" dirty="0"/>
              <a:t>НЕ определяется стандартом </a:t>
            </a:r>
            <a:r>
              <a:rPr lang="ru-RU" dirty="0"/>
              <a:t>и остаётся на откуп компилятору</a:t>
            </a:r>
          </a:p>
          <a:p>
            <a:r>
              <a:rPr lang="ru-RU" dirty="0"/>
              <a:t>2 подвыражения одного большого выражения исполняются независимо друг от друга в неопределённом порядке (исключение: оператор запятая «,»)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C++14 </a:t>
            </a:r>
            <a:r>
              <a:rPr lang="ru-RU" dirty="0"/>
              <a:t>гарантирует</a:t>
            </a:r>
            <a:r>
              <a:rPr lang="en-US" dirty="0"/>
              <a:t>, </a:t>
            </a:r>
            <a:r>
              <a:rPr lang="ru-RU" dirty="0"/>
              <a:t>что оба выражения </a:t>
            </a:r>
            <a:r>
              <a:rPr lang="en-US" dirty="0" err="1"/>
              <a:t>i</a:t>
            </a:r>
            <a:r>
              <a:rPr lang="en-US" dirty="0"/>
              <a:t>++ </a:t>
            </a:r>
            <a:r>
              <a:rPr lang="ru-RU" dirty="0"/>
              <a:t>будут вычислены до того, как будет вычислена их сумма, а также то, что выражение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ru-RU" dirty="0"/>
              <a:t>будет вычислено до того, как ему будет присвоен результат суммы</a:t>
            </a:r>
            <a:endParaRPr lang="en-US" dirty="0"/>
          </a:p>
          <a:p>
            <a:r>
              <a:rPr lang="ru-RU" dirty="0"/>
              <a:t>Компилятор может выбрать </a:t>
            </a:r>
            <a:r>
              <a:rPr lang="ru-RU" b="1" dirty="0"/>
              <a:t>несколько путей вычисления </a:t>
            </a:r>
            <a:r>
              <a:rPr lang="ru-RU" dirty="0"/>
              <a:t>полного выражения: он не ограничен в том, когда эффект от ++ должен быть применён к </a:t>
            </a:r>
            <a:r>
              <a:rPr lang="en-US" dirty="0" err="1"/>
              <a:t>i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6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19B2-FA86-981C-B325-CFFA72454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D8AB-B686-7510-2AC7-ABB3368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вычислений в выражениях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AAC4-58F6-25F9-30D4-78DFF31A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С++17 уточняет порядок</a:t>
            </a:r>
          </a:p>
          <a:p>
            <a:r>
              <a:rPr lang="ru-RU" dirty="0"/>
              <a:t>упорядочивание выполнения</a:t>
            </a:r>
          </a:p>
          <a:p>
            <a:pPr lvl="1"/>
            <a:r>
              <a:rPr lang="ru-RU" dirty="0"/>
              <a:t>постфиксных операторов</a:t>
            </a:r>
          </a:p>
          <a:p>
            <a:pPr lvl="1"/>
            <a:r>
              <a:rPr lang="ru-RU" dirty="0"/>
              <a:t>операторов побитового сдвига (слева направо)</a:t>
            </a:r>
          </a:p>
          <a:p>
            <a:pPr lvl="1"/>
            <a:r>
              <a:rPr lang="ru-RU" dirty="0"/>
              <a:t>операторов присвоения (справа налево)</a:t>
            </a:r>
          </a:p>
          <a:p>
            <a:r>
              <a:rPr lang="ru-RU" dirty="0"/>
              <a:t>выражение является вычисленным, т.е. его результат возвращён, и все ассоциированные побочные эффекты зафиксированы (</a:t>
            </a:r>
            <a:r>
              <a:rPr lang="en-US" dirty="0"/>
              <a:t>committed)</a:t>
            </a:r>
          </a:p>
          <a:p>
            <a:pPr lvl="1"/>
            <a:r>
              <a:rPr lang="en-US" b="1" dirty="0" err="1"/>
              <a:t>a.b</a:t>
            </a:r>
            <a:endParaRPr lang="en-US" b="1" dirty="0"/>
          </a:p>
          <a:p>
            <a:pPr lvl="1"/>
            <a:r>
              <a:rPr lang="en-US" b="1" dirty="0"/>
              <a:t>a-&gt;b</a:t>
            </a:r>
          </a:p>
          <a:p>
            <a:pPr lvl="1"/>
            <a:r>
              <a:rPr lang="en-US" b="1" dirty="0"/>
              <a:t>a-&gt;*b</a:t>
            </a:r>
          </a:p>
          <a:p>
            <a:pPr lvl="1"/>
            <a:r>
              <a:rPr lang="en-US" b="1" dirty="0"/>
              <a:t>a(b1, b2, b3)</a:t>
            </a:r>
          </a:p>
          <a:p>
            <a:pPr lvl="1"/>
            <a:r>
              <a:rPr lang="en-US" b="1" dirty="0"/>
              <a:t>b @= a 		</a:t>
            </a:r>
            <a:r>
              <a:rPr lang="en-US" dirty="0"/>
              <a:t>//</a:t>
            </a:r>
            <a:r>
              <a:rPr lang="en-US" b="1" dirty="0"/>
              <a:t> </a:t>
            </a:r>
            <a:r>
              <a:rPr lang="en-US" dirty="0"/>
              <a:t>@ </a:t>
            </a:r>
            <a:r>
              <a:rPr lang="ru-RU" dirty="0"/>
              <a:t>это оператор из</a:t>
            </a:r>
            <a:r>
              <a:rPr lang="en-US" dirty="0"/>
              <a:t> {+,-,*,/,&amp;,|}</a:t>
            </a:r>
          </a:p>
          <a:p>
            <a:pPr lvl="1"/>
            <a:r>
              <a:rPr lang="en-US" b="1" dirty="0"/>
              <a:t>a[b]</a:t>
            </a:r>
          </a:p>
          <a:p>
            <a:pPr lvl="1"/>
            <a:r>
              <a:rPr lang="en-US" b="1" dirty="0"/>
              <a:t>a &lt;&lt; b</a:t>
            </a:r>
          </a:p>
          <a:p>
            <a:pPr lvl="1"/>
            <a:r>
              <a:rPr lang="en-US" b="1" dirty="0"/>
              <a:t>a &gt;&gt; b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103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C563B-9E51-72D8-568E-78B9AB70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FE32-578B-7B8B-8279-470D0BB9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вычислений в выражениях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F31F-63EC-43FE-DE37-5C150CFF4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правила не коснулись порядка вычисления</a:t>
            </a:r>
          </a:p>
          <a:p>
            <a:r>
              <a:rPr lang="ru-RU" dirty="0"/>
              <a:t>аргументов функции относительно друг друга</a:t>
            </a:r>
          </a:p>
          <a:p>
            <a:pPr lvl="1"/>
            <a:r>
              <a:rPr lang="ru-RU" dirty="0"/>
              <a:t>по прежнему могут быть вычислены </a:t>
            </a:r>
            <a:r>
              <a:rPr lang="ru-RU" b="1" dirty="0"/>
              <a:t>в произвольном порядке</a:t>
            </a:r>
          </a:p>
          <a:p>
            <a:pPr lvl="1"/>
            <a:r>
              <a:rPr lang="ru-RU" b="1" dirty="0"/>
              <a:t>их выполнение не может пересекаться между собой</a:t>
            </a:r>
          </a:p>
          <a:p>
            <a:pPr marL="0" indent="0">
              <a:buNone/>
            </a:pPr>
            <a:endParaRPr lang="en-US" dirty="0"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310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0C181-4B02-DD37-181E-58BC63CE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F2A5-7156-56BB-E900-AEF6A2F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вычислений в выражениях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141D6-A6F0-AEF4-5778-6F722F578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Теперь не </a:t>
            </a:r>
            <a:r>
              <a:rPr lang="en-US" dirty="0"/>
              <a:t>UB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array[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cs typeface="Consolas" panose="020B0609020204030204" pitchFamily="49" charset="0"/>
              </a:rPr>
              <a:t>Все еще </a:t>
            </a:r>
            <a:r>
              <a:rPr lang="en-US" dirty="0">
                <a:cs typeface="Consolas" panose="020B0609020204030204" pitchFamily="49" charset="0"/>
              </a:rPr>
              <a:t>UB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++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</a:p>
        </p:txBody>
      </p:sp>
    </p:spTree>
    <p:extLst>
      <p:ext uri="{BB962C8B-B14F-4D97-AF65-F5344CB8AC3E}">
        <p14:creationId xmlns:p14="http://schemas.microsoft.com/office/powerpoint/2010/main" val="154912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</TotalTime>
  <Words>569</Words>
  <Application>Microsoft Macintosh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Проектирование больших систем на С++</vt:lpstr>
      <vt:lpstr>Убраны из стандарта</vt:lpstr>
      <vt:lpstr>Помечены как устаревающие</vt:lpstr>
      <vt:lpstr>noexcept</vt:lpstr>
      <vt:lpstr>Шаблоны с нетиповыми параметрами</vt:lpstr>
      <vt:lpstr>Вывод аргументов шаблонов</vt:lpstr>
      <vt:lpstr>Вывод аргументов шаблонов</vt:lpstr>
      <vt:lpstr>Вложенные пространства имен</vt:lpstr>
      <vt:lpstr>alignas для объектов в куче</vt:lpstr>
      <vt:lpstr>Проверка наличия заголовка</vt:lpstr>
      <vt:lpstr>Захват *this в lambda</vt:lpstr>
      <vt:lpstr>Захват *this в lambda</vt:lpstr>
      <vt:lpstr>std::true_type &amp; std::false_type</vt:lpstr>
      <vt:lpstr>emplace_back возвращает ссылку</vt:lpstr>
      <vt:lpstr>Какое значение имеет i?</vt:lpstr>
      <vt:lpstr>Какое значение имеет i?</vt:lpstr>
      <vt:lpstr>Пример посложнее</vt:lpstr>
      <vt:lpstr>Порядок вычислений в выражениях</vt:lpstr>
      <vt:lpstr>Порядок вычислений в выражениях</vt:lpstr>
      <vt:lpstr>Порядок вычислений в выражениях</vt:lpstr>
      <vt:lpstr>Порядок вычислений в выражениях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54</cp:revision>
  <dcterms:created xsi:type="dcterms:W3CDTF">2026-01-16T15:25:28Z</dcterms:created>
  <dcterms:modified xsi:type="dcterms:W3CDTF">2026-01-17T11:12:29Z</dcterms:modified>
</cp:coreProperties>
</file>