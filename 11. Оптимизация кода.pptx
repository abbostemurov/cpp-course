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9" r:id="rId2"/>
    <p:sldId id="281" r:id="rId3"/>
    <p:sldId id="311" r:id="rId4"/>
    <p:sldId id="313" r:id="rId5"/>
    <p:sldId id="314" r:id="rId6"/>
    <p:sldId id="315" r:id="rId7"/>
    <p:sldId id="312" r:id="rId8"/>
    <p:sldId id="282" r:id="rId9"/>
    <p:sldId id="283" r:id="rId10"/>
    <p:sldId id="284" r:id="rId11"/>
    <p:sldId id="285" r:id="rId12"/>
    <p:sldId id="318" r:id="rId13"/>
    <p:sldId id="319" r:id="rId14"/>
    <p:sldId id="286" r:id="rId15"/>
    <p:sldId id="287" r:id="rId16"/>
    <p:sldId id="301" r:id="rId17"/>
    <p:sldId id="316" r:id="rId18"/>
    <p:sldId id="302" r:id="rId19"/>
    <p:sldId id="31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8BAC5-EEA9-68B7-7FDF-8579D32944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FBB7DD-4D5B-F65D-659B-3DC768E40F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F8982-51E1-E224-E8C8-1E65ABCCB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EAD5B-2860-B040-BA16-B73B7A69C1F1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E5E54-5E73-D7D4-F487-402801C04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F8939-2F89-ED93-D538-DC825500B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3C435-2667-8645-8844-D06FFAE49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5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77629-7384-AC9B-885D-27E30DB82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B495E-0D8F-9636-AB59-1FDDE47B5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9822F-1697-3EDE-690D-C645DE1C2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EAD5B-2860-B040-BA16-B73B7A69C1F1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1589D-AE69-4989-2092-78613C1E2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7BE67-647B-4933-F23C-D130674A2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3C435-2667-8645-8844-D06FFAE49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505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24F0B-F7F7-7A98-8EEB-FAF229774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5C230-9EF9-84D8-2FF2-238E5DD35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67171-A601-F399-009A-85AAF9AB6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EAD5B-2860-B040-BA16-B73B7A69C1F1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3BE13-11B4-DB41-88CF-192EE65EC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2D2E3-7B5A-68DE-0FA9-620A9008E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3C435-2667-8645-8844-D06FFAE49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171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D3030-2BD2-AB38-50C2-F4686AF78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F942A-4967-B2F9-F132-3399F2691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13D3AD-0BD5-CF28-E7DB-A4B478F0E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CAB656-5D6E-030A-3030-4B31DED9A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EAD5B-2860-B040-BA16-B73B7A69C1F1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24006E-6059-51D0-5BA6-ECEE764D2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88B32C-C9F1-0AC4-8D9C-52D8A1498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3C435-2667-8645-8844-D06FFAE49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291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43B99-3344-6F91-155A-ED2B5A198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A15D3-3C98-93D2-87F7-7C0198A1D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0B4B04-44CF-EF67-38DF-F155E2415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E39061-486E-511B-A6E8-AEFD1CDB86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9CD6F-521F-D825-6D35-09497FF363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0A3075-BEDF-31FC-16DB-B6D4ABCEB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EAD5B-2860-B040-BA16-B73B7A69C1F1}" type="datetimeFigureOut">
              <a:rPr lang="en-US" smtClean="0"/>
              <a:t>1/17/26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4E1EBC-6296-E5F0-22B6-DD103AFC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E85C69-9E8B-4C1C-74C1-6E1A7D37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3C435-2667-8645-8844-D06FFAE49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49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0455B-CCBD-E618-8148-DBEF4DEA5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70B5F7-213A-619D-FFF7-7BE561C66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EAD5B-2860-B040-BA16-B73B7A69C1F1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E5365B-B933-045D-7CB6-1AA9FCB14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C8AD93-9CCD-4F42-56BE-DA59FF410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3C435-2667-8645-8844-D06FFAE49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288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CB06D9-6B6B-62DC-090E-AB74F8FFC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EAD5B-2860-B040-BA16-B73B7A69C1F1}" type="datetimeFigureOut">
              <a:rPr lang="en-US" smtClean="0"/>
              <a:t>1/17/26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68A8F3-BFE6-D892-FB44-629CDBA11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4DD6C-8321-BB4F-2807-23616702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3C435-2667-8645-8844-D06FFAE49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40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BB3AC-A41D-A3C4-B435-4307F3638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2DD41-1A69-BFA7-DE58-5CCE97344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7AA08A-3318-7955-AF6F-F7CA2496A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A0D1C-C216-FF59-DD0D-B56A16B32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EAD5B-2860-B040-BA16-B73B7A69C1F1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AB8E6-43B4-435F-AFA6-49743705A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69443-A08A-F921-3CED-6238B73AE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3C435-2667-8645-8844-D06FFAE49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017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9BDFB-7887-5DFE-2526-B96A2C916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87128C-2833-5604-6BBB-4D48CA470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39A1DD-0E7A-40E9-E24E-39293E44E9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43072-48A2-1C3D-0079-0A9D487FF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EAD5B-2860-B040-BA16-B73B7A69C1F1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9E279-5A15-9C3B-C437-30753AE94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11FB9-7F2B-7508-AB3C-46F4F4DC9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3C435-2667-8645-8844-D06FFAE49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695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B40F5-C7AD-CA9D-18BA-0195AF83D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7ACB70-683A-04F5-0943-EE5E5F23FC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75601-263C-FD72-B4AD-DE283AB52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EAD5B-2860-B040-BA16-B73B7A69C1F1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D5ECC-09D9-CA99-1E0A-709262CED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78CAC-4098-332F-6AA3-C7F8F0914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3C435-2667-8645-8844-D06FFAE49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937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A874D6-6573-8F97-1644-A1619DD26A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423FEF-01E2-E33F-94EE-D6B876E759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17393-9015-7593-C4E9-22EBB31D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EAD5B-2860-B040-BA16-B73B7A69C1F1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FB606-4C07-2940-DFF2-3964113CD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14644-C6FC-1E9A-48E0-6BAABD84F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3C435-2667-8645-8844-D06FFAE49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302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344642-9CDB-6F9A-BBF9-7FB8A0D5B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62500-1920-6C70-81C6-061B6AEFF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B2B2E-F110-40CF-4A4F-1FEE9F52DB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EAD5B-2860-B040-BA16-B73B7A69C1F1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B8D57-07CA-E326-4BB5-AA83D6B0F6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13DAA-40B7-CC9F-F0DD-38926BEFE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3C435-2667-8645-8844-D06FFAE49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703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tel.com/content/www/us/en/docs/intrinsics-guide/index.htm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FF718-883A-8DC9-6DAA-0134F8040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DF15E-08A0-BEE0-A2EA-C066EAC37F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Проектирование больших систем на С++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37890A-080D-1733-7881-1F711E5EAF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январь 2026</a:t>
            </a:r>
          </a:p>
          <a:p>
            <a:r>
              <a:rPr lang="ru-RU" dirty="0"/>
              <a:t>Оптимизация кода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153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A9D49-E191-2F1F-1DA5-70C40EB0B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7931-5C69-FBCB-76C1-9B8011CCD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Прежде всего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E2DF0-4052-FDB2-C375-1ACF87A1A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«</a:t>
            </a:r>
            <a:r>
              <a:rPr lang="ru-RU" b="1" dirty="0"/>
              <a:t>Преждевременная оптимизация – корень всех зол</a:t>
            </a:r>
            <a:r>
              <a:rPr lang="ru-RU" dirty="0"/>
              <a:t>» </a:t>
            </a:r>
            <a:br>
              <a:rPr lang="ru-RU" dirty="0"/>
            </a:br>
            <a:r>
              <a:rPr lang="ru-RU" dirty="0"/>
              <a:t>– Дональд Кнут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Сначала профилируем, выявляем узкие места и работаем с ними в порядке их влияния на метрику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Используемые или реализованные алгоритмы могут быть узким местом – лучше начать с них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729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C6539-0EFA-62CC-9596-3066B3752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99DBA-C084-4B18-E32D-74F742FA3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Профайлеры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3942-9297-5B70-4D93-658D368FE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perf</a:t>
            </a:r>
            <a:endParaRPr lang="ru-RU" b="1" dirty="0"/>
          </a:p>
          <a:p>
            <a:pPr marL="0" indent="0">
              <a:buNone/>
            </a:pPr>
            <a:endParaRPr lang="ru-RU" dirty="0"/>
          </a:p>
          <a:p>
            <a:pPr lvl="0">
              <a:buClr>
                <a:srgbClr val="00B050"/>
              </a:buClr>
              <a:buFont typeface="System Font Regular"/>
              <a:buChar char="+"/>
              <a:defRPr/>
            </a:pPr>
            <a:r>
              <a:rPr lang="ru-RU" dirty="0"/>
              <a:t>Очень низкий </a:t>
            </a:r>
            <a:r>
              <a:rPr lang="en-US" dirty="0"/>
              <a:t>overhead (1–5%)</a:t>
            </a:r>
            <a:endParaRPr lang="ru-RU" dirty="0"/>
          </a:p>
          <a:p>
            <a:pPr lvl="0">
              <a:buClr>
                <a:srgbClr val="00B050"/>
              </a:buClr>
              <a:buFont typeface="System Font Regular"/>
              <a:buChar char="+"/>
              <a:defRPr/>
            </a:pPr>
            <a:r>
              <a:rPr lang="ru-RU" dirty="0"/>
              <a:t>Можно профилировать релиз-сборки</a:t>
            </a:r>
          </a:p>
          <a:p>
            <a:pPr lvl="0">
              <a:buClr>
                <a:srgbClr val="C00000"/>
              </a:buClr>
              <a:buFont typeface="System Font Regular"/>
              <a:buChar char="−"/>
              <a:defRPr/>
            </a:pPr>
            <a:r>
              <a:rPr lang="ru-RU" dirty="0"/>
              <a:t>Только на </a:t>
            </a:r>
            <a:r>
              <a:rPr lang="en-US" dirty="0"/>
              <a:t>Linux, </a:t>
            </a:r>
            <a:r>
              <a:rPr lang="ru-RU" dirty="0"/>
              <a:t>причем не всех</a:t>
            </a:r>
          </a:p>
          <a:p>
            <a:pPr lvl="0">
              <a:buClr>
                <a:srgbClr val="C00000"/>
              </a:buClr>
              <a:buFont typeface="System Font Regular"/>
              <a:buChar char="−"/>
              <a:defRPr/>
            </a:pPr>
            <a:r>
              <a:rPr lang="ru-RU" dirty="0"/>
              <a:t>Короткие функции замеряются менее точно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35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C2D4D-B05E-FD6F-492F-F8AB1BC29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93E41-834A-71FA-5D52-B8A8B2BD6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Профайлеры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F6C23-F69A-DA9C-02A3-80A9B545F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Visual Studio Profiler</a:t>
            </a:r>
            <a:endParaRPr lang="ru-RU" b="1" dirty="0"/>
          </a:p>
          <a:p>
            <a:pPr marL="0" indent="0">
              <a:buNone/>
            </a:pPr>
            <a:endParaRPr lang="ru-RU" dirty="0"/>
          </a:p>
          <a:p>
            <a:pPr lvl="0">
              <a:buClr>
                <a:srgbClr val="00B050"/>
              </a:buClr>
              <a:buFont typeface="System Font Regular"/>
              <a:buChar char="+"/>
              <a:defRPr/>
            </a:pPr>
            <a:r>
              <a:rPr lang="ru-RU" dirty="0"/>
              <a:t>Удобный </a:t>
            </a:r>
            <a:r>
              <a:rPr lang="en-US" dirty="0"/>
              <a:t>GUI, </a:t>
            </a:r>
            <a:r>
              <a:rPr lang="ru-RU" dirty="0"/>
              <a:t>встроен в </a:t>
            </a:r>
            <a:r>
              <a:rPr lang="en-US" dirty="0"/>
              <a:t>Visual Studio</a:t>
            </a:r>
            <a:endParaRPr lang="ru-RU" dirty="0"/>
          </a:p>
          <a:p>
            <a:pPr lvl="0">
              <a:buClr>
                <a:srgbClr val="00B050"/>
              </a:buClr>
              <a:buFont typeface="System Font Regular"/>
              <a:buChar char="+"/>
              <a:defRPr/>
            </a:pPr>
            <a:r>
              <a:rPr lang="en-US" dirty="0" err="1"/>
              <a:t>Flamegraph</a:t>
            </a:r>
            <a:endParaRPr lang="ru-RU" dirty="0"/>
          </a:p>
          <a:p>
            <a:pPr lvl="0">
              <a:buClr>
                <a:srgbClr val="C00000"/>
              </a:buClr>
              <a:buFont typeface="System Font Regular"/>
              <a:buChar char="−"/>
              <a:defRPr/>
            </a:pPr>
            <a:r>
              <a:rPr lang="ru-RU" dirty="0"/>
              <a:t>Только на </a:t>
            </a:r>
            <a:r>
              <a:rPr lang="en-US" dirty="0"/>
              <a:t>Windows</a:t>
            </a:r>
            <a:endParaRPr lang="ru-RU" dirty="0"/>
          </a:p>
          <a:p>
            <a:pPr lvl="0">
              <a:buClr>
                <a:srgbClr val="C00000"/>
              </a:buClr>
              <a:buFont typeface="System Font Regular"/>
              <a:buChar char="−"/>
              <a:defRPr/>
            </a:pPr>
            <a:r>
              <a:rPr lang="ru-RU" dirty="0"/>
              <a:t>Точность меньше, чем у </a:t>
            </a:r>
            <a:r>
              <a:rPr lang="en-US" dirty="0"/>
              <a:t>perf</a:t>
            </a:r>
            <a:endParaRPr lang="ru-RU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367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CB97B-C90C-5FA3-74E4-15A96854B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21BCF-D77D-6340-8666-3941BDD0F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Профайлеры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D5C48-B296-8A45-A26E-FEC5FB56C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gprof</a:t>
            </a:r>
            <a:endParaRPr lang="ru-RU" b="1" dirty="0"/>
          </a:p>
          <a:p>
            <a:pPr marL="0" indent="0">
              <a:buNone/>
            </a:pPr>
            <a:endParaRPr lang="ru-RU" dirty="0"/>
          </a:p>
          <a:p>
            <a:pPr lvl="0">
              <a:buClr>
                <a:srgbClr val="00B050"/>
              </a:buClr>
              <a:buFont typeface="System Font Regular"/>
              <a:buChar char="+"/>
              <a:defRPr/>
            </a:pPr>
            <a:r>
              <a:rPr lang="ru-RU" dirty="0"/>
              <a:t>Простой</a:t>
            </a:r>
          </a:p>
          <a:p>
            <a:pPr lvl="0">
              <a:buClr>
                <a:srgbClr val="00B050"/>
              </a:buClr>
              <a:buFont typeface="System Font Regular"/>
              <a:buChar char="+"/>
              <a:defRPr/>
            </a:pPr>
            <a:r>
              <a:rPr lang="ru-RU" dirty="0"/>
              <a:t>Доступный</a:t>
            </a:r>
          </a:p>
          <a:p>
            <a:pPr lvl="0">
              <a:buClr>
                <a:srgbClr val="C00000"/>
              </a:buClr>
              <a:buFont typeface="System Font Regular"/>
              <a:buChar char="−"/>
              <a:defRPr/>
            </a:pPr>
            <a:r>
              <a:rPr lang="ru-RU" dirty="0"/>
              <a:t>Устарел</a:t>
            </a:r>
          </a:p>
          <a:p>
            <a:pPr lvl="0">
              <a:buClr>
                <a:srgbClr val="C00000"/>
              </a:buClr>
              <a:buFont typeface="System Font Regular"/>
              <a:buChar char="−"/>
              <a:defRPr/>
            </a:pPr>
            <a:r>
              <a:rPr lang="ru-RU" dirty="0"/>
              <a:t>Иногда искажает время выполнения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218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0D051-C010-C828-010C-5C4222786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CE1B5-0CFC-C6E0-52F7-3B417F798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Профайлеры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EA20A-9065-B5A5-7DE9-676ADAFD6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Valgrind</a:t>
            </a:r>
            <a:r>
              <a:rPr lang="en-US" b="1" dirty="0"/>
              <a:t>/</a:t>
            </a:r>
            <a:r>
              <a:rPr lang="en-US" b="1" dirty="0" err="1"/>
              <a:t>Callgrind</a:t>
            </a:r>
            <a:endParaRPr lang="ru-RU" b="1" dirty="0"/>
          </a:p>
          <a:p>
            <a:pPr marL="0" indent="0">
              <a:buNone/>
            </a:pPr>
            <a:endParaRPr lang="ru-RU" dirty="0"/>
          </a:p>
          <a:p>
            <a:pPr lvl="0">
              <a:buClr>
                <a:srgbClr val="00B050"/>
              </a:buClr>
              <a:buFont typeface="System Font Regular"/>
              <a:buChar char="+"/>
              <a:defRPr/>
            </a:pPr>
            <a:r>
              <a:rPr lang="ru-RU" dirty="0"/>
              <a:t>Моделирует команды процессора и обращение к памяти</a:t>
            </a:r>
          </a:p>
          <a:p>
            <a:pPr lvl="0">
              <a:buClr>
                <a:srgbClr val="00B050"/>
              </a:buClr>
              <a:buFont typeface="System Font Regular"/>
              <a:buChar char="+"/>
              <a:defRPr/>
            </a:pPr>
            <a:r>
              <a:rPr lang="ru-RU" dirty="0"/>
              <a:t>Покажет детали по каждой строчке</a:t>
            </a:r>
          </a:p>
          <a:p>
            <a:pPr lvl="0">
              <a:buClr>
                <a:srgbClr val="C00000"/>
              </a:buClr>
              <a:buFont typeface="System Font Regular"/>
              <a:buChar char="−"/>
              <a:defRPr/>
            </a:pPr>
            <a:r>
              <a:rPr lang="ru-RU" dirty="0"/>
              <a:t>Очень медленный, до 10-50 раз</a:t>
            </a:r>
          </a:p>
          <a:p>
            <a:pPr lvl="0">
              <a:buClr>
                <a:srgbClr val="C00000"/>
              </a:buClr>
              <a:buFont typeface="System Font Regular"/>
              <a:buChar char="−"/>
              <a:defRPr/>
            </a:pPr>
            <a:r>
              <a:rPr lang="ru-RU" dirty="0"/>
              <a:t>Иногда искажает поведение процессора и кэшей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003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725FD-E699-B685-D499-9797A5AF8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11F89-7F64-95C5-4126-B58975446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Профайлеры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A200C-B4B5-5DBA-0355-BFF78D991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Вручную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F1B2FD-D5CC-FEC1-AE89-5825677AF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25044"/>
            <a:ext cx="77724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142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C55D0-0494-E709-C2A9-41A30FFA8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F3596-7A04-682E-DE03-162C0E9AE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Избегаем лишних копий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0D7A1-219F-35D7-4CA3-068EB9A11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A5B42E-044F-3A67-5969-F962B23E3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61494"/>
            <a:ext cx="66040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892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8DCEA-6A4B-E7EF-0E0B-61C6D9670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CA38F-178B-AC6F-CDD6-66CBBD0AB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Резервируем память если возможно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56B4C-94BA-01C7-78E2-FDAB68948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99AC6F-1E2D-05EE-51E2-163E75385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24944"/>
            <a:ext cx="49276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175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2001E-5276-4720-E1DD-B5F29B3AC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A5770-0195-29C4-D0D5-39684A96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 значению или по ссылке?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95E3F-A9CE-87DE-DFB9-C283FD140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11561"/>
            <a:ext cx="10515600" cy="2565401"/>
          </a:xfrm>
        </p:spPr>
        <p:txBody>
          <a:bodyPr/>
          <a:lstStyle/>
          <a:p>
            <a:r>
              <a:rPr lang="ru-RU" dirty="0"/>
              <a:t>маленькие типы (</a:t>
            </a:r>
            <a:r>
              <a:rPr lang="en-US" dirty="0"/>
              <a:t>int, double, </a:t>
            </a:r>
            <a:r>
              <a:rPr lang="ru-RU" dirty="0"/>
              <a:t>маленькие </a:t>
            </a:r>
            <a:r>
              <a:rPr lang="en-US" dirty="0"/>
              <a:t>struct) </a:t>
            </a:r>
            <a:r>
              <a:rPr lang="ru-RU" dirty="0"/>
              <a:t>- обычно по значению</a:t>
            </a:r>
          </a:p>
          <a:p>
            <a:r>
              <a:rPr lang="ru-RU" dirty="0"/>
              <a:t>большие объекты (</a:t>
            </a:r>
            <a:r>
              <a:rPr lang="en-US" dirty="0"/>
              <a:t>std::string, vector) </a:t>
            </a:r>
            <a:r>
              <a:rPr lang="ru-RU" dirty="0"/>
              <a:t>-</a:t>
            </a:r>
            <a:r>
              <a:rPr lang="en-US" dirty="0"/>
              <a:t> const&amp; </a:t>
            </a:r>
            <a:r>
              <a:rPr lang="ru-RU" dirty="0"/>
              <a:t>или “по значению + </a:t>
            </a:r>
            <a:r>
              <a:rPr lang="en-US" dirty="0"/>
              <a:t>move”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9309DE-B0EA-3745-A1D8-31FF8A7BB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6083300" cy="165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525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21B04-2414-E233-F7B8-0466901E2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13AC6-8940-8C1D-75AF-84C222EFA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Нетривиальные проверки в циклах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16A9E-C2BE-FDA3-1110-29D661C1F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DBEDE5-EA9B-9257-247C-0830A7668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18594"/>
            <a:ext cx="4762500" cy="256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419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F4613-1372-7BA9-10FD-DB40207BF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1F870-3020-B0BD-95C3-7D8D744E6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Избегаем ветвления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A5C42-9728-8240-B608-AF55104B7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54B067-B286-17DC-1C7D-DED3662E5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12144"/>
            <a:ext cx="2476500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410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FA1C4-173F-19C7-A1D5-52F579986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C1CA8-3902-EAB9-7454-AA88476A9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Избегаем ветвления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489E3-68EB-F697-D49F-3D98A7CD0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A74949-846E-9017-99F5-24C9DD5BC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10544"/>
            <a:ext cx="32131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215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F1CC8-EC8B-7E7F-E21E-409A10CCA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F6FAE-7B8B-4475-DD9F-5214EFD8C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Разное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23E50-7AE4-848D-2898-34B97D90F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используем параллельные вариации алгоритмов </a:t>
            </a:r>
            <a:r>
              <a:rPr lang="en-US" dirty="0"/>
              <a:t>STL (C++17)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2FDB06-6BFF-C13B-88DD-F991416E4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725495"/>
            <a:ext cx="4762500" cy="1447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BBE51C-F3F2-C50E-085D-F6A95D14A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35760"/>
            <a:ext cx="57277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281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D60D8-0997-6F2C-A4C5-D71524DB2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C94EC-7847-3984-B6AF-567030E3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Опции компилятора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9778-2490-FE62-628C-A18A20639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-O2 </a:t>
            </a:r>
            <a:r>
              <a:rPr lang="ru-RU" dirty="0"/>
              <a:t>или </a:t>
            </a:r>
            <a:r>
              <a:rPr lang="ru-RU" b="1" dirty="0"/>
              <a:t>-</a:t>
            </a:r>
            <a:r>
              <a:rPr lang="en-US" b="1" dirty="0"/>
              <a:t>O3 </a:t>
            </a:r>
            <a:r>
              <a:rPr lang="en-US" dirty="0"/>
              <a:t>-</a:t>
            </a:r>
            <a:r>
              <a:rPr lang="en-US" b="1" dirty="0"/>
              <a:t> </a:t>
            </a:r>
            <a:r>
              <a:rPr lang="en-US" dirty="0"/>
              <a:t>GCC/Clang</a:t>
            </a:r>
          </a:p>
          <a:p>
            <a:r>
              <a:rPr lang="en-US" b="1" dirty="0"/>
              <a:t>-DNDEBUG </a:t>
            </a:r>
            <a:r>
              <a:rPr lang="en-US" dirty="0"/>
              <a:t>-</a:t>
            </a:r>
            <a:r>
              <a:rPr lang="en-US" b="1" dirty="0"/>
              <a:t> </a:t>
            </a:r>
            <a:r>
              <a:rPr lang="ru-RU" dirty="0"/>
              <a:t>убирает </a:t>
            </a:r>
            <a:r>
              <a:rPr lang="en-US" dirty="0"/>
              <a:t>assert</a:t>
            </a:r>
          </a:p>
          <a:p>
            <a:r>
              <a:rPr lang="en-US" b="1" dirty="0"/>
              <a:t>-march=native </a:t>
            </a:r>
            <a:r>
              <a:rPr lang="en-US" dirty="0"/>
              <a:t>-</a:t>
            </a:r>
            <a:r>
              <a:rPr lang="en-US" b="1" dirty="0"/>
              <a:t> </a:t>
            </a:r>
            <a:r>
              <a:rPr lang="ru-RU" dirty="0"/>
              <a:t>если можно привязаться к конкретной машине</a:t>
            </a:r>
          </a:p>
          <a:p>
            <a:r>
              <a:rPr lang="en-US" b="1" dirty="0"/>
              <a:t>-</a:t>
            </a:r>
            <a:r>
              <a:rPr lang="en-US" b="1" dirty="0" err="1"/>
              <a:t>flto</a:t>
            </a:r>
            <a:r>
              <a:rPr lang="en-US" b="1" dirty="0"/>
              <a:t> </a:t>
            </a:r>
            <a:r>
              <a:rPr lang="en-US" dirty="0"/>
              <a:t>- Link Time Optimization</a:t>
            </a:r>
          </a:p>
        </p:txBody>
      </p:sp>
    </p:spTree>
    <p:extLst>
      <p:ext uri="{BB962C8B-B14F-4D97-AF65-F5344CB8AC3E}">
        <p14:creationId xmlns:p14="http://schemas.microsoft.com/office/powerpoint/2010/main" val="2791724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B683D-F432-6FF0-3D64-2128AE17E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4F6E5-720E-1A28-922B-C55761CE1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68EB9-59BE-ECF1-9A82-0259C5E4D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SIMD</a:t>
            </a:r>
            <a:r>
              <a:rPr lang="en-US" dirty="0"/>
              <a:t> (Single Instruction, Multiple Data) — </a:t>
            </a:r>
            <a:r>
              <a:rPr lang="ru-RU" dirty="0"/>
              <a:t>одна инструкция обрабатывает сразу несколько элементов данных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2F235B-563F-8087-4012-684CA71F2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85578"/>
            <a:ext cx="3962400" cy="257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355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BDF85-37E9-6DB0-564B-2886149BD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35892-17EA-7287-6230-2DB83D9E9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651F0-81C0-238E-0189-9C3878383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x86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298A4F-011A-1277-2D43-FFFD67D1F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74803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384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EFFE0-8CE5-0153-4735-9A697A79B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C928A-D5A9-0735-6575-1CFB3EA03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0973F-316B-4BA5-0024-14DAB007E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x86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DBF43B-3CA0-4E6F-F831-ADE2A585F69F}"/>
              </a:ext>
            </a:extLst>
          </p:cNvPr>
          <p:cNvGraphicFramePr>
            <a:graphicFrameLocks noGrp="1"/>
          </p:cNvGraphicFramePr>
          <p:nvPr/>
        </p:nvGraphicFramePr>
        <p:xfrm>
          <a:off x="2573720" y="2902228"/>
          <a:ext cx="7044558" cy="1828800"/>
        </p:xfrm>
        <a:graphic>
          <a:graphicData uri="http://schemas.openxmlformats.org/drawingml/2006/table">
            <a:tbl>
              <a:tblPr/>
              <a:tblGrid>
                <a:gridCol w="2348186">
                  <a:extLst>
                    <a:ext uri="{9D8B030D-6E8A-4147-A177-3AD203B41FA5}">
                      <a16:colId xmlns:a16="http://schemas.microsoft.com/office/drawing/2014/main" val="2913472122"/>
                    </a:ext>
                  </a:extLst>
                </a:gridCol>
                <a:gridCol w="2348186">
                  <a:extLst>
                    <a:ext uri="{9D8B030D-6E8A-4147-A177-3AD203B41FA5}">
                      <a16:colId xmlns:a16="http://schemas.microsoft.com/office/drawing/2014/main" val="3304736713"/>
                    </a:ext>
                  </a:extLst>
                </a:gridCol>
                <a:gridCol w="2348186">
                  <a:extLst>
                    <a:ext uri="{9D8B030D-6E8A-4147-A177-3AD203B41FA5}">
                      <a16:colId xmlns:a16="http://schemas.microsoft.com/office/drawing/2014/main" val="25029379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dirty="0"/>
                        <a:t>Расширение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/>
                        <a:t>Регистр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/>
                        <a:t>Ширина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109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SSE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XMM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/>
                        <a:t>128 бит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5985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AVX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YMM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/>
                        <a:t>256 бит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29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AVX2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YMM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/>
                        <a:t>256 бит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232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AVX-512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ZMM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/>
                        <a:t>512 бит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825935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194E758-8646-4B92-6721-F6940B85DD24}"/>
              </a:ext>
            </a:extLst>
          </p:cNvPr>
          <p:cNvSpPr txBox="1"/>
          <p:nvPr/>
        </p:nvSpPr>
        <p:spPr>
          <a:xfrm>
            <a:off x="2391102" y="5243719"/>
            <a:ext cx="7409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https://www.intel.com/content/www/us/en/docs/intrinsics-guide/index.html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990254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B869B-0F81-ABFA-5827-329DFC4AC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B8EBA-45BC-7F18-5A74-FE820C2A3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76953-BD1F-8A7E-F155-634D58191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ARM NEON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FCF4A0-57C5-FF5D-7432-FF19BB18B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71628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769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305</Words>
  <Application>Microsoft Macintosh PowerPoint</Application>
  <PresentationFormat>Widescreen</PresentationFormat>
  <Paragraphs>83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System Font Regular</vt:lpstr>
      <vt:lpstr>Office Theme</vt:lpstr>
      <vt:lpstr>Проектирование больших систем на С++</vt:lpstr>
      <vt:lpstr>Прежде всего</vt:lpstr>
      <vt:lpstr>Профайлеры</vt:lpstr>
      <vt:lpstr>Профайлеры</vt:lpstr>
      <vt:lpstr>Профайлеры</vt:lpstr>
      <vt:lpstr>Профайлеры</vt:lpstr>
      <vt:lpstr>Профайлеры</vt:lpstr>
      <vt:lpstr>Избегаем лишних копий</vt:lpstr>
      <vt:lpstr>Резервируем память если возможно</vt:lpstr>
      <vt:lpstr>По значению или по ссылке?</vt:lpstr>
      <vt:lpstr>Нетривиальные проверки в циклах</vt:lpstr>
      <vt:lpstr>Избегаем ветвления</vt:lpstr>
      <vt:lpstr>Избегаем ветвления</vt:lpstr>
      <vt:lpstr>Разное</vt:lpstr>
      <vt:lpstr>Опции компилятора</vt:lpstr>
      <vt:lpstr>SIMD</vt:lpstr>
      <vt:lpstr>SIMD</vt:lpstr>
      <vt:lpstr>SIMD</vt:lpstr>
      <vt:lpstr>SIMD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</cp:revision>
  <dcterms:created xsi:type="dcterms:W3CDTF">2026-01-17T11:10:16Z</dcterms:created>
  <dcterms:modified xsi:type="dcterms:W3CDTF">2026-01-17T11:12:53Z</dcterms:modified>
</cp:coreProperties>
</file>